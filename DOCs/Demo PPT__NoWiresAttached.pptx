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3.png" ContentType="image/png"/>
  <Override PartName="/ppt/media/image8.png" ContentType="image/png"/>
  <Override PartName="/ppt/media/image17.png" ContentType="image/png"/>
  <Override PartName="/ppt/media/image11.png" ContentType="image/png"/>
  <Override PartName="/ppt/media/image2.png" ContentType="image/png"/>
  <Override PartName="/ppt/media/image22.jpeg" ContentType="image/jpeg"/>
  <Override PartName="/ppt/media/image26.png" ContentType="image/png"/>
  <Override PartName="/ppt/media/image25.png" ContentType="image/png"/>
  <Override PartName="/ppt/media/image24.jpeg" ContentType="image/jpeg"/>
  <Override PartName="/ppt/media/image21.jpeg" ContentType="image/jpeg"/>
  <Override PartName="/ppt/media/image23.jpeg" ContentType="image/jpeg"/>
  <Override PartName="/ppt/media/image19.png" ContentType="image/png"/>
  <Override PartName="/ppt/media/image14.jpeg" ContentType="image/jpeg"/>
  <Override PartName="/ppt/media/image5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7.png" ContentType="image/png"/>
  <Override PartName="/ppt/media/image16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18.xml.rels" ContentType="application/vnd.openxmlformats-package.relationships+xml"/>
  <Override PartName="/ppt/slides/_rels/slide4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</p:sld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60F63CB5-9A07-4ACC-A816-F21A428785B9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7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E54CE0F-7C9E-45B1-BA54-BD8A82BD2BC2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9AB18F6-65AB-4AEE-880D-C693DE6CCEC0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F7DECF5-5AF5-434C-8491-6C5AE860D89E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7FBF513-290F-4DBC-9A48-EC142CB2C65E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70EEDD2-1495-4604-A6C1-C086BD6781B2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E6D5D47-1262-4E6C-8D92-1E580508BF2A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C88E958-741A-4711-98D0-89D913FCFB87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B3D926E-8538-41FC-B798-E09B44917A13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4C2708C-1CA9-40A4-BC9F-D9E16621CC50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EBE98AC-DC04-4757-973C-D2D1A07E88A0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ln w="0">
            <a:noFill/>
          </a:ln>
        </p:spPr>
      </p:pic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4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ln w="0">
            <a:noFill/>
          </a:ln>
        </p:spPr>
      </p:pic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4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ln w="0">
            <a:noFill/>
          </a:ln>
        </p:spPr>
      </p:pic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4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3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ln w="0">
            <a:noFill/>
          </a:ln>
        </p:spPr>
      </p:pic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4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3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ln w="0">
            <a:noFill/>
          </a:ln>
        </p:spPr>
      </p:pic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4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4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ln w="0">
            <a:noFill/>
          </a:ln>
        </p:spPr>
      </p:pic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4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4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ln w="0">
            <a:noFill/>
          </a:ln>
        </p:spPr>
      </p:pic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0.xml"/><Relationship Id="rId6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11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1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1.jpeg"/><Relationship Id="rId3" Type="http://schemas.openxmlformats.org/officeDocument/2006/relationships/image" Target="../media/image22.jpeg"/><Relationship Id="rId4" Type="http://schemas.openxmlformats.org/officeDocument/2006/relationships/image" Target="../media/image23.jpeg"/><Relationship Id="rId5" Type="http://schemas.openxmlformats.org/officeDocument/2006/relationships/image" Target="../media/image24.jpeg"/><Relationship Id="rId6" Type="http://schemas.openxmlformats.org/officeDocument/2006/relationships/slideLayout" Target="../slideLayouts/slideLayout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slideLayout" Target="../slideLayouts/slideLayout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Image 0" descr="preencoded.png"/>
          <p:cNvPicPr/>
          <p:nvPr/>
        </p:nvPicPr>
        <p:blipFill>
          <a:blip r:embed="rId1"/>
          <a:stretch/>
        </p:blipFill>
        <p:spPr>
          <a:xfrm>
            <a:off x="9144000" y="0"/>
            <a:ext cx="5485680" cy="8228880"/>
          </a:xfrm>
          <a:prstGeom prst="rect">
            <a:avLst/>
          </a:prstGeom>
          <a:ln w="0">
            <a:noFill/>
          </a:ln>
        </p:spPr>
      </p:pic>
      <p:sp>
        <p:nvSpPr>
          <p:cNvPr id="57" name="Text 0"/>
          <p:cNvSpPr/>
          <p:nvPr/>
        </p:nvSpPr>
        <p:spPr>
          <a:xfrm>
            <a:off x="793800" y="1846800"/>
            <a:ext cx="7555680" cy="212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5550"/>
              </a:lnSpc>
              <a:tabLst>
                <a:tab algn="l" pos="0"/>
              </a:tabLst>
            </a:pPr>
            <a:r>
              <a:rPr b="0" lang="en-US" sz="4450" spc="-1" strike="noStrike">
                <a:solidFill>
                  <a:srgbClr val="030303"/>
                </a:solidFill>
                <a:latin typeface="DM Sans Semi Bold"/>
                <a:ea typeface="DM Sans Semi Bold"/>
              </a:rPr>
              <a:t>Auto EA-SORAN: AI-Native Energy Optimisation for 5G RAN</a:t>
            </a:r>
            <a:endParaRPr b="0" lang="en-US" sz="4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 1"/>
          <p:cNvSpPr/>
          <p:nvPr/>
        </p:nvSpPr>
        <p:spPr>
          <a:xfrm>
            <a:off x="793800" y="4313160"/>
            <a:ext cx="7555680" cy="14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849"/>
              </a:lnSpc>
              <a:tabLst>
                <a:tab algn="l" pos="0"/>
              </a:tabLst>
            </a:pPr>
            <a:r>
              <a:rPr b="1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How it works:</a:t>
            </a:r>
            <a:r>
              <a:rPr b="0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 A Simu5G digital twin feeds a Python multi-agent loop (Prediction → Optimisation → Feedback → Orchestration) over ZeroMQ/CSV files to reduce base-station energy while keeping QoS within policy.</a:t>
            </a:r>
            <a:endParaRPr b="0" lang="en-US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 2"/>
          <p:cNvSpPr/>
          <p:nvPr/>
        </p:nvSpPr>
        <p:spPr>
          <a:xfrm>
            <a:off x="793800" y="6019920"/>
            <a:ext cx="755568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 defTabSz="914400"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Team NoWiresAttached</a:t>
            </a:r>
            <a:endParaRPr b="0" lang="en-US" sz="17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ffffff">
              <a:alpha val="8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Text 1"/>
          <p:cNvSpPr/>
          <p:nvPr/>
        </p:nvSpPr>
        <p:spPr>
          <a:xfrm>
            <a:off x="793800" y="677160"/>
            <a:ext cx="10918080" cy="70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5550"/>
              </a:lnSpc>
              <a:tabLst>
                <a:tab algn="l" pos="0"/>
              </a:tabLst>
            </a:pPr>
            <a:r>
              <a:rPr b="0" lang="en-US" sz="4450" spc="-1" strike="noStrike">
                <a:solidFill>
                  <a:srgbClr val="030303"/>
                </a:solidFill>
                <a:latin typeface="DM Sans Semi Bold"/>
                <a:ea typeface="DM Sans Semi Bold"/>
              </a:rPr>
              <a:t>The Challenge: RAN Power Consumption</a:t>
            </a:r>
            <a:endParaRPr b="0" lang="en-US" sz="4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Shape 2"/>
          <p:cNvSpPr/>
          <p:nvPr/>
        </p:nvSpPr>
        <p:spPr>
          <a:xfrm>
            <a:off x="793800" y="1726200"/>
            <a:ext cx="906480" cy="1360080"/>
          </a:xfrm>
          <a:prstGeom prst="roundRect">
            <a:avLst>
              <a:gd name="adj" fmla="val 360022"/>
            </a:avLst>
          </a:prstGeom>
          <a:solidFill>
            <a:srgbClr val="f2ee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Text 3"/>
          <p:cNvSpPr/>
          <p:nvPr/>
        </p:nvSpPr>
        <p:spPr>
          <a:xfrm>
            <a:off x="1077120" y="2193840"/>
            <a:ext cx="33948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650"/>
              </a:lnSpc>
              <a:tabLst>
                <a:tab algn="l" pos="0"/>
              </a:tabLst>
            </a:pPr>
            <a:r>
              <a:rPr b="0" lang="en-US" sz="2650" spc="-1" strike="noStrike">
                <a:solidFill>
                  <a:srgbClr val="464646"/>
                </a:solidFill>
                <a:latin typeface="DM Sans Semi Bold"/>
                <a:ea typeface="DM Sans Semi Bold"/>
              </a:rPr>
              <a:t>1</a:t>
            </a:r>
            <a:endParaRPr b="0" lang="en-US" sz="26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 4"/>
          <p:cNvSpPr/>
          <p:nvPr/>
        </p:nvSpPr>
        <p:spPr>
          <a:xfrm>
            <a:off x="1927800" y="1953000"/>
            <a:ext cx="3035520" cy="35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75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464646"/>
                </a:solidFill>
                <a:latin typeface="DM Sans Semi Bold"/>
                <a:ea typeface="DM Sans Semi Bold"/>
              </a:rPr>
              <a:t>Dominant energy bills: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 5"/>
          <p:cNvSpPr/>
          <p:nvPr/>
        </p:nvSpPr>
        <p:spPr>
          <a:xfrm>
            <a:off x="1927800" y="2443320"/>
            <a:ext cx="1190808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5G's capacity boost inflates RAN power use, dominating operator energy expenses.</a:t>
            </a:r>
            <a:endParaRPr b="0" lang="en-US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Shape 6"/>
          <p:cNvSpPr/>
          <p:nvPr/>
        </p:nvSpPr>
        <p:spPr>
          <a:xfrm>
            <a:off x="793800" y="3313800"/>
            <a:ext cx="906480" cy="1360080"/>
          </a:xfrm>
          <a:prstGeom prst="roundRect">
            <a:avLst>
              <a:gd name="adj" fmla="val 360022"/>
            </a:avLst>
          </a:prstGeom>
          <a:solidFill>
            <a:srgbClr val="f2ee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" name="Text 7"/>
          <p:cNvSpPr/>
          <p:nvPr/>
        </p:nvSpPr>
        <p:spPr>
          <a:xfrm>
            <a:off x="1077120" y="3781800"/>
            <a:ext cx="33948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650"/>
              </a:lnSpc>
              <a:tabLst>
                <a:tab algn="l" pos="0"/>
              </a:tabLst>
            </a:pPr>
            <a:r>
              <a:rPr b="0" lang="en-US" sz="2650" spc="-1" strike="noStrike">
                <a:solidFill>
                  <a:srgbClr val="464646"/>
                </a:solidFill>
                <a:latin typeface="DM Sans Semi Bold"/>
                <a:ea typeface="DM Sans Semi Bold"/>
              </a:rPr>
              <a:t>2</a:t>
            </a:r>
            <a:endParaRPr b="0" lang="en-US" sz="26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 8"/>
          <p:cNvSpPr/>
          <p:nvPr/>
        </p:nvSpPr>
        <p:spPr>
          <a:xfrm>
            <a:off x="1927800" y="3540600"/>
            <a:ext cx="2834640" cy="35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75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464646"/>
                </a:solidFill>
                <a:latin typeface="DM Sans Semi Bold"/>
                <a:ea typeface="DM Sans Semi Bold"/>
              </a:rPr>
              <a:t>Idle waste: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 9"/>
          <p:cNvSpPr/>
          <p:nvPr/>
        </p:nvSpPr>
        <p:spPr>
          <a:xfrm>
            <a:off x="1927800" y="4030920"/>
            <a:ext cx="1190808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Even with minimal traffic, many base station (BS) components remain active, wasting energy.</a:t>
            </a:r>
            <a:endParaRPr b="0" lang="en-US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Shape 10"/>
          <p:cNvSpPr/>
          <p:nvPr/>
        </p:nvSpPr>
        <p:spPr>
          <a:xfrm>
            <a:off x="793800" y="4901400"/>
            <a:ext cx="906480" cy="1668960"/>
          </a:xfrm>
          <a:prstGeom prst="roundRect">
            <a:avLst>
              <a:gd name="adj" fmla="val 360022"/>
            </a:avLst>
          </a:prstGeom>
          <a:solidFill>
            <a:srgbClr val="f2ee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1" name="Text 11"/>
          <p:cNvSpPr/>
          <p:nvPr/>
        </p:nvSpPr>
        <p:spPr>
          <a:xfrm>
            <a:off x="1077120" y="5523840"/>
            <a:ext cx="33948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650"/>
              </a:lnSpc>
              <a:tabLst>
                <a:tab algn="l" pos="0"/>
              </a:tabLst>
            </a:pPr>
            <a:r>
              <a:rPr b="0" lang="en-US" sz="2650" spc="-1" strike="noStrike">
                <a:solidFill>
                  <a:srgbClr val="464646"/>
                </a:solidFill>
                <a:latin typeface="DM Sans Semi Bold"/>
                <a:ea typeface="DM Sans Semi Bold"/>
              </a:rPr>
              <a:t>3</a:t>
            </a:r>
            <a:endParaRPr b="0" lang="en-US" sz="26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 12"/>
          <p:cNvSpPr/>
          <p:nvPr/>
        </p:nvSpPr>
        <p:spPr>
          <a:xfrm>
            <a:off x="1927800" y="5128200"/>
            <a:ext cx="2834640" cy="35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75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464646"/>
                </a:solidFill>
                <a:latin typeface="DM Sans Semi Bold"/>
                <a:ea typeface="DM Sans Semi Bold"/>
              </a:rPr>
              <a:t>Inflexible rules: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 13"/>
          <p:cNvSpPr/>
          <p:nvPr/>
        </p:nvSpPr>
        <p:spPr>
          <a:xfrm>
            <a:off x="1927800" y="5618880"/>
            <a:ext cx="11908080" cy="72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Static settings fail to adapt to dynamic traffic and varying service level agreements (SLAs) like eMBB, URLLC, and mMTC.</a:t>
            </a:r>
            <a:endParaRPr b="0" lang="en-US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 14"/>
          <p:cNvSpPr/>
          <p:nvPr/>
        </p:nvSpPr>
        <p:spPr>
          <a:xfrm>
            <a:off x="793800" y="6826680"/>
            <a:ext cx="13042080" cy="72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849"/>
              </a:lnSpc>
              <a:tabLst>
                <a:tab algn="l" pos="0"/>
              </a:tabLst>
            </a:pPr>
            <a:r>
              <a:rPr b="1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The Goal:</a:t>
            </a:r>
            <a:r>
              <a:rPr b="0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 Develop a safe, automated system to adjust BS settings based on real-time demand—without compromising Quality of Service (QoS).</a:t>
            </a:r>
            <a:endParaRPr b="0" lang="en-US" sz="17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5" name="Picture 16" descr="A white background with black dots&#10;&#10;AI-generated content may be incorrect."/>
          <p:cNvPicPr/>
          <p:nvPr/>
        </p:nvPicPr>
        <p:blipFill>
          <a:blip r:embed="rId1"/>
          <a:stretch/>
        </p:blipFill>
        <p:spPr>
          <a:xfrm>
            <a:off x="12649320" y="7730280"/>
            <a:ext cx="1980360" cy="456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Image 0" descr="preencoded.png"/>
          <p:cNvPicPr/>
          <p:nvPr/>
        </p:nvPicPr>
        <p:blipFill>
          <a:blip r:embed="rId1"/>
          <a:stretch/>
        </p:blipFill>
        <p:spPr>
          <a:xfrm>
            <a:off x="9144000" y="0"/>
            <a:ext cx="5485680" cy="8228880"/>
          </a:xfrm>
          <a:prstGeom prst="rect">
            <a:avLst/>
          </a:prstGeom>
          <a:ln w="0">
            <a:noFill/>
          </a:ln>
        </p:spPr>
      </p:pic>
      <p:sp>
        <p:nvSpPr>
          <p:cNvPr id="77" name="Text 0"/>
          <p:cNvSpPr/>
          <p:nvPr/>
        </p:nvSpPr>
        <p:spPr>
          <a:xfrm>
            <a:off x="793800" y="1798560"/>
            <a:ext cx="755568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5550"/>
              </a:lnSpc>
              <a:tabLst>
                <a:tab algn="l" pos="0"/>
              </a:tabLst>
            </a:pPr>
            <a:r>
              <a:rPr b="0" lang="en-US" sz="4450" spc="-1" strike="noStrike">
                <a:solidFill>
                  <a:srgbClr val="030303"/>
                </a:solidFill>
                <a:latin typeface="DM Sans Semi Bold"/>
                <a:ea typeface="DM Sans Semi Bold"/>
              </a:rPr>
              <a:t>Why Is Energy Optimisation  Difficult?</a:t>
            </a:r>
            <a:endParaRPr b="0" lang="en-US" sz="4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 1"/>
          <p:cNvSpPr/>
          <p:nvPr/>
        </p:nvSpPr>
        <p:spPr>
          <a:xfrm>
            <a:off x="793800" y="3556440"/>
            <a:ext cx="7555680" cy="10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2849"/>
              </a:lnSpc>
              <a:buClr>
                <a:srgbClr val="464646"/>
              </a:buClr>
              <a:buFont typeface="Symbol" charset="2"/>
              <a:buChar char=""/>
            </a:pPr>
            <a:r>
              <a:rPr b="1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Complex Dependencies:</a:t>
            </a:r>
            <a:r>
              <a:rPr b="0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 Base station energy use hinges on configuration (TX power, carriers, bandwidth), traffic (PRB utilisation), and energy-saving (ES) modes (micro/deep sleep).</a:t>
            </a:r>
            <a:endParaRPr b="0" lang="en-US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Text 2"/>
          <p:cNvSpPr/>
          <p:nvPr/>
        </p:nvSpPr>
        <p:spPr>
          <a:xfrm>
            <a:off x="793800" y="4724280"/>
            <a:ext cx="7555680" cy="72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2849"/>
              </a:lnSpc>
              <a:buClr>
                <a:srgbClr val="464646"/>
              </a:buClr>
              <a:buFont typeface="Symbol" charset="2"/>
              <a:buChar char=""/>
            </a:pPr>
            <a:r>
              <a:rPr b="1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QoS Risks:</a:t>
            </a:r>
            <a:r>
              <a:rPr b="0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 Blindly adjusting settings can negatively impact throughput and latency.</a:t>
            </a:r>
            <a:endParaRPr b="0" lang="en-US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3"/>
          <p:cNvSpPr/>
          <p:nvPr/>
        </p:nvSpPr>
        <p:spPr>
          <a:xfrm>
            <a:off x="793800" y="5705280"/>
            <a:ext cx="7555680" cy="72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We require a </a:t>
            </a:r>
            <a:r>
              <a:rPr b="1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closed-loop system</a:t>
            </a:r>
            <a:r>
              <a:rPr b="0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 that </a:t>
            </a:r>
            <a:r>
              <a:rPr b="0" i="1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predicts</a:t>
            </a:r>
            <a:r>
              <a:rPr b="0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, </a:t>
            </a:r>
            <a:r>
              <a:rPr b="0" i="1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optimises under policies</a:t>
            </a:r>
            <a:r>
              <a:rPr b="0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, and </a:t>
            </a:r>
            <a:r>
              <a:rPr b="0" i="1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verifies safety</a:t>
            </a:r>
            <a:r>
              <a:rPr b="0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 before implementing any changes.</a:t>
            </a:r>
            <a:endParaRPr b="0" lang="en-US" sz="17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0"/>
          <p:cNvSpPr/>
          <p:nvPr/>
        </p:nvSpPr>
        <p:spPr>
          <a:xfrm>
            <a:off x="793800" y="1227240"/>
            <a:ext cx="12044880" cy="70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5550"/>
              </a:lnSpc>
              <a:tabLst>
                <a:tab algn="l" pos="0"/>
              </a:tabLst>
            </a:pPr>
            <a:r>
              <a:rPr b="0" lang="en-US" sz="4450" spc="-1" strike="noStrike">
                <a:solidFill>
                  <a:srgbClr val="030303"/>
                </a:solidFill>
                <a:latin typeface="DM Sans Semi Bold"/>
                <a:ea typeface="DM Sans Semi Bold"/>
              </a:rPr>
              <a:t>Our Solution: AI-Powered Optimization Loop</a:t>
            </a:r>
            <a:endParaRPr b="0" lang="en-US" sz="44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2" name="Image 0" descr="preencoded.png"/>
          <p:cNvPicPr/>
          <p:nvPr/>
        </p:nvPicPr>
        <p:blipFill>
          <a:blip r:embed="rId1"/>
          <a:stretch/>
        </p:blipFill>
        <p:spPr>
          <a:xfrm>
            <a:off x="793800" y="2389680"/>
            <a:ext cx="1133280" cy="1360080"/>
          </a:xfrm>
          <a:prstGeom prst="rect">
            <a:avLst/>
          </a:prstGeom>
          <a:ln w="0">
            <a:noFill/>
          </a:ln>
        </p:spPr>
      </p:pic>
      <p:sp>
        <p:nvSpPr>
          <p:cNvPr id="83" name="Text 1"/>
          <p:cNvSpPr/>
          <p:nvPr/>
        </p:nvSpPr>
        <p:spPr>
          <a:xfrm>
            <a:off x="2154600" y="2616480"/>
            <a:ext cx="2834640" cy="35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75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464646"/>
                </a:solidFill>
                <a:latin typeface="DM Sans Semi Bold"/>
                <a:ea typeface="DM Sans Semi Bold"/>
              </a:rPr>
              <a:t>Digital Twin: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 2"/>
          <p:cNvSpPr/>
          <p:nvPr/>
        </p:nvSpPr>
        <p:spPr>
          <a:xfrm>
            <a:off x="2154600" y="3106800"/>
            <a:ext cx="1168128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Leverage Simu5G to monitor KPIs and simulate actions on gNodeBs.</a:t>
            </a:r>
            <a:endParaRPr b="0" lang="en-US" sz="17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5" name="Image 1" descr="preencoded.png"/>
          <p:cNvPicPr/>
          <p:nvPr/>
        </p:nvPicPr>
        <p:blipFill>
          <a:blip r:embed="rId2"/>
          <a:stretch/>
        </p:blipFill>
        <p:spPr>
          <a:xfrm>
            <a:off x="793800" y="3750480"/>
            <a:ext cx="1133280" cy="2632680"/>
          </a:xfrm>
          <a:prstGeom prst="rect">
            <a:avLst/>
          </a:prstGeom>
          <a:ln w="0">
            <a:noFill/>
          </a:ln>
        </p:spPr>
      </p:pic>
      <p:sp>
        <p:nvSpPr>
          <p:cNvPr id="86" name="Text 3"/>
          <p:cNvSpPr/>
          <p:nvPr/>
        </p:nvSpPr>
        <p:spPr>
          <a:xfrm>
            <a:off x="2154600" y="3977280"/>
            <a:ext cx="4181760" cy="35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75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464646"/>
                </a:solidFill>
                <a:latin typeface="DM Sans Semi Bold"/>
                <a:ea typeface="DM Sans Semi Bold"/>
              </a:rPr>
              <a:t>Four Python Agents (ZeroMQ):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 4"/>
          <p:cNvSpPr/>
          <p:nvPr/>
        </p:nvSpPr>
        <p:spPr>
          <a:xfrm>
            <a:off x="2154600" y="4467960"/>
            <a:ext cx="1168128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 defTabSz="914400">
              <a:lnSpc>
                <a:spcPts val="2849"/>
              </a:lnSpc>
              <a:buClr>
                <a:srgbClr val="464646"/>
              </a:buClr>
              <a:buFont typeface="Calibri Light"/>
              <a:buAutoNum type="arabicPeriod"/>
            </a:pPr>
            <a:r>
              <a:rPr b="1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Prediction:</a:t>
            </a:r>
            <a:r>
              <a:rPr b="0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 Utilises a Keras ANN for short-term energy forecasting.</a:t>
            </a:r>
            <a:endParaRPr b="0" lang="en-US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 5"/>
          <p:cNvSpPr/>
          <p:nvPr/>
        </p:nvSpPr>
        <p:spPr>
          <a:xfrm>
            <a:off x="2154600" y="4910040"/>
            <a:ext cx="1168128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 defTabSz="914400">
              <a:lnSpc>
                <a:spcPts val="2849"/>
              </a:lnSpc>
              <a:buClr>
                <a:srgbClr val="464646"/>
              </a:buClr>
              <a:buFont typeface="Calibri Light"/>
              <a:buAutoNum type="arabicPeriod" startAt="2"/>
            </a:pPr>
            <a:r>
              <a:rPr b="1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Optimization:</a:t>
            </a:r>
            <a:r>
              <a:rPr b="0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 Proposes energy-saving strategies.</a:t>
            </a:r>
            <a:endParaRPr b="0" lang="en-US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 6"/>
          <p:cNvSpPr/>
          <p:nvPr/>
        </p:nvSpPr>
        <p:spPr>
          <a:xfrm>
            <a:off x="2154600" y="5352120"/>
            <a:ext cx="1168128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 defTabSz="914400">
              <a:lnSpc>
                <a:spcPts val="2849"/>
              </a:lnSpc>
              <a:buClr>
                <a:srgbClr val="464646"/>
              </a:buClr>
              <a:buFont typeface="Calibri Light"/>
              <a:buAutoNum type="arabicPeriod" startAt="3"/>
            </a:pPr>
            <a:r>
              <a:rPr b="1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Feedback:</a:t>
            </a:r>
            <a:r>
              <a:rPr b="0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 Ensures proposed plans align with established policies and thresholds.</a:t>
            </a:r>
            <a:endParaRPr b="0" lang="en-US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 7"/>
          <p:cNvSpPr/>
          <p:nvPr/>
        </p:nvSpPr>
        <p:spPr>
          <a:xfrm>
            <a:off x="2154600" y="5794560"/>
            <a:ext cx="1168128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 defTabSz="914400">
              <a:lnSpc>
                <a:spcPts val="2849"/>
              </a:lnSpc>
              <a:buClr>
                <a:srgbClr val="464646"/>
              </a:buClr>
              <a:buFont typeface="Calibri Light"/>
              <a:buAutoNum type="arabicPeriod" startAt="4"/>
            </a:pPr>
            <a:r>
              <a:rPr b="1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Orchestration:</a:t>
            </a:r>
            <a:r>
              <a:rPr b="0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 Implements approved modifications within the Simu5G environment.</a:t>
            </a:r>
            <a:endParaRPr b="0" lang="en-US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 8"/>
          <p:cNvSpPr/>
          <p:nvPr/>
        </p:nvSpPr>
        <p:spPr>
          <a:xfrm>
            <a:off x="793800" y="6639120"/>
            <a:ext cx="1304208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849"/>
              </a:lnSpc>
              <a:tabLst>
                <a:tab algn="l" pos="0"/>
              </a:tabLst>
            </a:pPr>
            <a:r>
              <a:rPr b="1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Goal:</a:t>
            </a:r>
            <a:r>
              <a:rPr b="0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 Reduce energy consumption while maintaining QoS within defined parameters.</a:t>
            </a:r>
            <a:endParaRPr b="0" lang="en-US" sz="17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2" name="Picture 12" descr="A white background with black dots&#10;&#10;AI-generated content may be incorrect."/>
          <p:cNvPicPr/>
          <p:nvPr/>
        </p:nvPicPr>
        <p:blipFill>
          <a:blip r:embed="rId3"/>
          <a:stretch/>
        </p:blipFill>
        <p:spPr>
          <a:xfrm>
            <a:off x="12649320" y="7730280"/>
            <a:ext cx="1980360" cy="456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 0"/>
          <p:cNvSpPr/>
          <p:nvPr/>
        </p:nvSpPr>
        <p:spPr>
          <a:xfrm>
            <a:off x="793800" y="1098360"/>
            <a:ext cx="12122280" cy="70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5550"/>
              </a:lnSpc>
              <a:tabLst>
                <a:tab algn="l" pos="0"/>
              </a:tabLst>
            </a:pPr>
            <a:r>
              <a:rPr b="0" lang="en-US" sz="4450" spc="-1" strike="noStrike">
                <a:solidFill>
                  <a:srgbClr val="030303"/>
                </a:solidFill>
                <a:latin typeface="DM Sans Semi Bold"/>
                <a:ea typeface="DM Sans Semi Bold"/>
              </a:rPr>
              <a:t>Integration within the 5G Service Landscape</a:t>
            </a:r>
            <a:endParaRPr b="0" lang="en-US" sz="4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1"/>
          <p:cNvSpPr/>
          <p:nvPr/>
        </p:nvSpPr>
        <p:spPr>
          <a:xfrm>
            <a:off x="793800" y="2260800"/>
            <a:ext cx="1304208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Our optimisation techniques adapt based on the specific service type, ensuring tailored energy savings.</a:t>
            </a:r>
            <a:endParaRPr b="0" lang="en-US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Shape 2"/>
          <p:cNvSpPr/>
          <p:nvPr/>
        </p:nvSpPr>
        <p:spPr>
          <a:xfrm>
            <a:off x="793800" y="2878920"/>
            <a:ext cx="4195800" cy="3633840"/>
          </a:xfrm>
          <a:prstGeom prst="roundRect">
            <a:avLst>
              <a:gd name="adj" fmla="val 936"/>
            </a:avLst>
          </a:prstGeom>
          <a:solidFill>
            <a:srgbClr val="f2ee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6" name="Text 3"/>
          <p:cNvSpPr/>
          <p:nvPr/>
        </p:nvSpPr>
        <p:spPr>
          <a:xfrm>
            <a:off x="1020600" y="3105720"/>
            <a:ext cx="3741840" cy="70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75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464646"/>
                </a:solidFill>
                <a:latin typeface="DM Sans Semi Bold"/>
                <a:ea typeface="DM Sans Semi Bold"/>
              </a:rPr>
              <a:t>eMBB (Enhanced Mobile Broadband)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 4"/>
          <p:cNvSpPr/>
          <p:nvPr/>
        </p:nvSpPr>
        <p:spPr>
          <a:xfrm>
            <a:off x="1020600" y="3950280"/>
            <a:ext cx="3741840" cy="72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2849"/>
              </a:lnSpc>
              <a:buClr>
                <a:srgbClr val="464646"/>
              </a:buClr>
              <a:buFont typeface="Symbol" charset="2"/>
              <a:buChar char=""/>
            </a:pPr>
            <a:r>
              <a:rPr b="0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Prioritise throughput efficiency.</a:t>
            </a:r>
            <a:endParaRPr b="0" lang="en-US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 5"/>
          <p:cNvSpPr/>
          <p:nvPr/>
        </p:nvSpPr>
        <p:spPr>
          <a:xfrm>
            <a:off x="1020600" y="4755600"/>
            <a:ext cx="3741840" cy="72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2849"/>
              </a:lnSpc>
              <a:buClr>
                <a:srgbClr val="464646"/>
              </a:buClr>
              <a:buFont typeface="Symbol" charset="2"/>
              <a:buChar char=""/>
            </a:pPr>
            <a:r>
              <a:rPr b="0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Employ micro-sleep and subtle TX-power adjustments.</a:t>
            </a:r>
            <a:endParaRPr b="0" lang="en-US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 6"/>
          <p:cNvSpPr/>
          <p:nvPr/>
        </p:nvSpPr>
        <p:spPr>
          <a:xfrm>
            <a:off x="1020600" y="5560560"/>
            <a:ext cx="374184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 defTabSz="914400">
              <a:lnSpc>
                <a:spcPts val="2849"/>
              </a:lnSpc>
              <a:buClr>
                <a:srgbClr val="464646"/>
              </a:buClr>
              <a:buFont typeface="Symbol" charset="2"/>
              <a:buChar char=""/>
            </a:pPr>
            <a:r>
              <a:rPr b="0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Maintain at least p95 DL rate.</a:t>
            </a:r>
            <a:endParaRPr b="0" lang="en-US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Shape 7"/>
          <p:cNvSpPr/>
          <p:nvPr/>
        </p:nvSpPr>
        <p:spPr>
          <a:xfrm>
            <a:off x="5217120" y="2878920"/>
            <a:ext cx="4195800" cy="3633840"/>
          </a:xfrm>
          <a:prstGeom prst="roundRect">
            <a:avLst>
              <a:gd name="adj" fmla="val 936"/>
            </a:avLst>
          </a:prstGeom>
          <a:solidFill>
            <a:srgbClr val="f2ee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1" name="Text 8"/>
          <p:cNvSpPr/>
          <p:nvPr/>
        </p:nvSpPr>
        <p:spPr>
          <a:xfrm>
            <a:off x="5443920" y="3105720"/>
            <a:ext cx="3741840" cy="70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75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464646"/>
                </a:solidFill>
                <a:latin typeface="DM Sans Semi Bold"/>
                <a:ea typeface="DM Sans Semi Bold"/>
              </a:rPr>
              <a:t>URLLC (Ultra-Reliable Low Latency Communications)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 9"/>
          <p:cNvSpPr/>
          <p:nvPr/>
        </p:nvSpPr>
        <p:spPr>
          <a:xfrm>
            <a:off x="5443920" y="3950280"/>
            <a:ext cx="3741840" cy="72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2849"/>
              </a:lnSpc>
              <a:buClr>
                <a:srgbClr val="464646"/>
              </a:buClr>
              <a:buFont typeface="Symbol" charset="2"/>
              <a:buChar char=""/>
            </a:pPr>
            <a:r>
              <a:rPr b="0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Focus on minimal latency and loss.</a:t>
            </a:r>
            <a:endParaRPr b="0" lang="en-US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Text 10"/>
          <p:cNvSpPr/>
          <p:nvPr/>
        </p:nvSpPr>
        <p:spPr>
          <a:xfrm>
            <a:off x="5443920" y="4755600"/>
            <a:ext cx="3741840" cy="72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2849"/>
              </a:lnSpc>
              <a:buClr>
                <a:srgbClr val="464646"/>
              </a:buClr>
              <a:buFont typeface="Symbol" charset="2"/>
              <a:buChar char=""/>
            </a:pPr>
            <a:r>
              <a:rPr b="0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Employ conservative strategies.</a:t>
            </a:r>
            <a:endParaRPr b="0" lang="en-US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 11"/>
          <p:cNvSpPr/>
          <p:nvPr/>
        </p:nvSpPr>
        <p:spPr>
          <a:xfrm>
            <a:off x="5443920" y="5560560"/>
            <a:ext cx="3741840" cy="72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2849"/>
              </a:lnSpc>
              <a:buClr>
                <a:srgbClr val="464646"/>
              </a:buClr>
              <a:buFont typeface="Symbol" charset="2"/>
              <a:buChar char=""/>
            </a:pPr>
            <a:r>
              <a:rPr b="0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Implement immediate rollback for violations.</a:t>
            </a:r>
            <a:endParaRPr b="0" lang="en-US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Shape 12"/>
          <p:cNvSpPr/>
          <p:nvPr/>
        </p:nvSpPr>
        <p:spPr>
          <a:xfrm>
            <a:off x="9640080" y="2878920"/>
            <a:ext cx="4195800" cy="3633840"/>
          </a:xfrm>
          <a:prstGeom prst="roundRect">
            <a:avLst>
              <a:gd name="adj" fmla="val 936"/>
            </a:avLst>
          </a:prstGeom>
          <a:solidFill>
            <a:srgbClr val="f2ee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6" name="Text 13"/>
          <p:cNvSpPr/>
          <p:nvPr/>
        </p:nvSpPr>
        <p:spPr>
          <a:xfrm>
            <a:off x="9866880" y="3105720"/>
            <a:ext cx="3741840" cy="70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75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464646"/>
                </a:solidFill>
                <a:latin typeface="DM Sans Semi Bold"/>
                <a:ea typeface="DM Sans Semi Bold"/>
              </a:rPr>
              <a:t>mMTC (Massive Machine Type Communications)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 14"/>
          <p:cNvSpPr/>
          <p:nvPr/>
        </p:nvSpPr>
        <p:spPr>
          <a:xfrm>
            <a:off x="9866880" y="3950280"/>
            <a:ext cx="3741840" cy="72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2849"/>
              </a:lnSpc>
              <a:buClr>
                <a:srgbClr val="464646"/>
              </a:buClr>
              <a:buFont typeface="Symbol" charset="2"/>
              <a:buChar char=""/>
            </a:pPr>
            <a:r>
              <a:rPr b="0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Cater to sparse traffic scenarios.</a:t>
            </a:r>
            <a:endParaRPr b="0" lang="en-US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Text 15"/>
          <p:cNvSpPr/>
          <p:nvPr/>
        </p:nvSpPr>
        <p:spPr>
          <a:xfrm>
            <a:off x="9866880" y="4755600"/>
            <a:ext cx="3741840" cy="72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2849"/>
              </a:lnSpc>
              <a:buClr>
                <a:srgbClr val="464646"/>
              </a:buClr>
              <a:buFont typeface="Symbol" charset="2"/>
              <a:buChar char=""/>
            </a:pPr>
            <a:r>
              <a:rPr b="0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Utilise deeper sleep states and carrier off windows.</a:t>
            </a:r>
            <a:endParaRPr b="0" lang="en-US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16"/>
          <p:cNvSpPr/>
          <p:nvPr/>
        </p:nvSpPr>
        <p:spPr>
          <a:xfrm>
            <a:off x="9866880" y="5560560"/>
            <a:ext cx="3741840" cy="72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2849"/>
              </a:lnSpc>
              <a:buClr>
                <a:srgbClr val="464646"/>
              </a:buClr>
              <a:buFont typeface="Symbol" charset="2"/>
              <a:buChar char=""/>
            </a:pPr>
            <a:r>
              <a:rPr b="0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Employ broader operational thresholds.</a:t>
            </a:r>
            <a:endParaRPr b="0" lang="en-US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 17"/>
          <p:cNvSpPr/>
          <p:nvPr/>
        </p:nvSpPr>
        <p:spPr>
          <a:xfrm>
            <a:off x="793800" y="6768360"/>
            <a:ext cx="1304208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849"/>
              </a:lnSpc>
              <a:tabLst>
                <a:tab algn="l" pos="0"/>
              </a:tabLst>
            </a:pPr>
            <a:r>
              <a:rPr b="1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Policy-driven optimisation:</a:t>
            </a:r>
            <a:r>
              <a:rPr b="0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 Policies adapt savings to service needs.</a:t>
            </a:r>
            <a:endParaRPr b="0" lang="en-US" sz="17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1" name="Picture 19" descr="A white background with black dots&#10;&#10;AI-generated content may be incorrect."/>
          <p:cNvPicPr/>
          <p:nvPr/>
        </p:nvPicPr>
        <p:blipFill>
          <a:blip r:embed="rId1"/>
          <a:stretch/>
        </p:blipFill>
        <p:spPr>
          <a:xfrm>
            <a:off x="12649320" y="7730280"/>
            <a:ext cx="1980360" cy="456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 0"/>
          <p:cNvSpPr/>
          <p:nvPr/>
        </p:nvSpPr>
        <p:spPr>
          <a:xfrm>
            <a:off x="793800" y="1754640"/>
            <a:ext cx="12898800" cy="70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5550"/>
              </a:lnSpc>
              <a:tabLst>
                <a:tab algn="l" pos="0"/>
              </a:tabLst>
            </a:pPr>
            <a:r>
              <a:rPr b="0" lang="en-US" sz="4450" spc="-1" strike="noStrike">
                <a:solidFill>
                  <a:srgbClr val="030303"/>
                </a:solidFill>
                <a:latin typeface="DM Sans Semi Bold"/>
                <a:ea typeface="DM Sans Semi Bold"/>
              </a:rPr>
              <a:t>Deployment Pathways for Real-World Networks</a:t>
            </a:r>
            <a:endParaRPr b="0" lang="en-US" sz="44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3" name="Image 0" descr="preencoded.png"/>
          <p:cNvPicPr/>
          <p:nvPr/>
        </p:nvPicPr>
        <p:blipFill>
          <a:blip r:embed="rId1"/>
          <a:stretch/>
        </p:blipFill>
        <p:spPr>
          <a:xfrm>
            <a:off x="793800" y="2917080"/>
            <a:ext cx="6520680" cy="906480"/>
          </a:xfrm>
          <a:prstGeom prst="rect">
            <a:avLst/>
          </a:prstGeom>
          <a:ln w="0">
            <a:noFill/>
          </a:ln>
        </p:spPr>
      </p:pic>
      <p:sp>
        <p:nvSpPr>
          <p:cNvPr id="114" name="Text 1"/>
          <p:cNvSpPr/>
          <p:nvPr/>
        </p:nvSpPr>
        <p:spPr>
          <a:xfrm>
            <a:off x="1020600" y="4051080"/>
            <a:ext cx="2834640" cy="35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75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464646"/>
                </a:solidFill>
                <a:latin typeface="DM Sans Semi Bold"/>
                <a:ea typeface="DM Sans Semi Bold"/>
              </a:rPr>
              <a:t>O-RAN Integration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 2"/>
          <p:cNvSpPr/>
          <p:nvPr/>
        </p:nvSpPr>
        <p:spPr>
          <a:xfrm>
            <a:off x="1020600" y="4541400"/>
            <a:ext cx="6067080" cy="10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Deploy Prediction/Optimisation/Feedback as near-RT RIC xApps. Orchestrate actions via E2 interface to gNBs; monitor KPIs via SMO/OAM framework.</a:t>
            </a:r>
            <a:endParaRPr b="0" lang="en-US" sz="17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6" name="Image 1" descr="preencoded.png"/>
          <p:cNvPicPr/>
          <p:nvPr/>
        </p:nvPicPr>
        <p:blipFill>
          <a:blip r:embed="rId2"/>
          <a:stretch/>
        </p:blipFill>
        <p:spPr>
          <a:xfrm>
            <a:off x="7315200" y="2917080"/>
            <a:ext cx="6520680" cy="906480"/>
          </a:xfrm>
          <a:prstGeom prst="rect">
            <a:avLst/>
          </a:prstGeom>
          <a:ln w="0">
            <a:noFill/>
          </a:ln>
        </p:spPr>
      </p:pic>
      <p:sp>
        <p:nvSpPr>
          <p:cNvPr id="117" name="Text 3"/>
          <p:cNvSpPr/>
          <p:nvPr/>
        </p:nvSpPr>
        <p:spPr>
          <a:xfrm>
            <a:off x="7542000" y="4051080"/>
            <a:ext cx="2834640" cy="35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75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464646"/>
                </a:solidFill>
                <a:latin typeface="DM Sans Semi Bold"/>
                <a:ea typeface="DM Sans Semi Bold"/>
              </a:rPr>
              <a:t>Simu5G Validation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 4"/>
          <p:cNvSpPr/>
          <p:nvPr/>
        </p:nvSpPr>
        <p:spPr>
          <a:xfrm>
            <a:off x="7542000" y="4541400"/>
            <a:ext cx="6067080" cy="10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Utilise Simu5G for high-fidelity testing. Train and validate policies and actions safely before real-world pilots.</a:t>
            </a:r>
            <a:endParaRPr b="0" lang="en-US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Text 5"/>
          <p:cNvSpPr/>
          <p:nvPr/>
        </p:nvSpPr>
        <p:spPr>
          <a:xfrm>
            <a:off x="793800" y="6112080"/>
            <a:ext cx="1304208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849"/>
              </a:lnSpc>
              <a:tabLst>
                <a:tab algn="l" pos="0"/>
              </a:tabLst>
            </a:pPr>
            <a:r>
              <a:rPr b="1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Benefit:</a:t>
            </a:r>
            <a:r>
              <a:rPr b="0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 Provides a safe, controlled environment for testing and refining energy optimisation strategies.</a:t>
            </a:r>
            <a:endParaRPr b="0" lang="en-US" sz="17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0" name="Picture 9" descr="A white background with black dots&#10;&#10;AI-generated content may be incorrect."/>
          <p:cNvPicPr/>
          <p:nvPr/>
        </p:nvPicPr>
        <p:blipFill>
          <a:blip r:embed="rId3"/>
          <a:stretch/>
        </p:blipFill>
        <p:spPr>
          <a:xfrm>
            <a:off x="12649320" y="7730280"/>
            <a:ext cx="1980360" cy="456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 0"/>
          <p:cNvSpPr/>
          <p:nvPr/>
        </p:nvSpPr>
        <p:spPr>
          <a:xfrm>
            <a:off x="793800" y="1519200"/>
            <a:ext cx="7531560" cy="70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5550"/>
              </a:lnSpc>
              <a:tabLst>
                <a:tab algn="l" pos="0"/>
              </a:tabLst>
            </a:pPr>
            <a:r>
              <a:rPr b="0" lang="en-US" sz="4450" spc="-1" strike="noStrike">
                <a:solidFill>
                  <a:srgbClr val="030303"/>
                </a:solidFill>
                <a:latin typeface="DM Sans Semi Bold"/>
                <a:ea typeface="DM Sans Semi Bold"/>
              </a:rPr>
              <a:t>Core Operational Dynamics</a:t>
            </a:r>
            <a:endParaRPr b="0" lang="en-US" sz="44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2" name="Image 0" descr="preencoded.png"/>
          <p:cNvPicPr/>
          <p:nvPr/>
        </p:nvPicPr>
        <p:blipFill>
          <a:blip r:embed="rId1"/>
          <a:stretch/>
        </p:blipFill>
        <p:spPr>
          <a:xfrm>
            <a:off x="793800" y="2681640"/>
            <a:ext cx="4347000" cy="906480"/>
          </a:xfrm>
          <a:prstGeom prst="rect">
            <a:avLst/>
          </a:prstGeom>
          <a:ln w="0">
            <a:noFill/>
          </a:ln>
        </p:spPr>
      </p:pic>
      <p:sp>
        <p:nvSpPr>
          <p:cNvPr id="123" name="Text 1"/>
          <p:cNvSpPr/>
          <p:nvPr/>
        </p:nvSpPr>
        <p:spPr>
          <a:xfrm>
            <a:off x="1020600" y="3815640"/>
            <a:ext cx="2834640" cy="35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75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464646"/>
                </a:solidFill>
                <a:latin typeface="DM Sans Semi Bold"/>
                <a:ea typeface="DM Sans Semi Bold"/>
              </a:rPr>
              <a:t>Key Elements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 2"/>
          <p:cNvSpPr/>
          <p:nvPr/>
        </p:nvSpPr>
        <p:spPr>
          <a:xfrm>
            <a:off x="1020600" y="4305960"/>
            <a:ext cx="3893040" cy="14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gNodeB (BS), PRB utilisation, TX power, carriers, bandwidth, ES modes (micro/deep sleep) are optimised.</a:t>
            </a:r>
            <a:endParaRPr b="0" lang="en-US" sz="17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5" name="Image 1" descr="preencoded.png"/>
          <p:cNvPicPr/>
          <p:nvPr/>
        </p:nvPicPr>
        <p:blipFill>
          <a:blip r:embed="rId2"/>
          <a:stretch/>
        </p:blipFill>
        <p:spPr>
          <a:xfrm>
            <a:off x="5141520" y="2681640"/>
            <a:ext cx="4347000" cy="906480"/>
          </a:xfrm>
          <a:prstGeom prst="rect">
            <a:avLst/>
          </a:prstGeom>
          <a:ln w="0">
            <a:noFill/>
          </a:ln>
        </p:spPr>
      </p:pic>
      <p:sp>
        <p:nvSpPr>
          <p:cNvPr id="126" name="Text 3"/>
          <p:cNvSpPr/>
          <p:nvPr/>
        </p:nvSpPr>
        <p:spPr>
          <a:xfrm>
            <a:off x="5368320" y="3815640"/>
            <a:ext cx="2834640" cy="35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75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464646"/>
                </a:solidFill>
                <a:latin typeface="DM Sans Semi Bold"/>
                <a:ea typeface="DM Sans Semi Bold"/>
              </a:rPr>
              <a:t>Dynamic Loop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Text 4"/>
          <p:cNvSpPr/>
          <p:nvPr/>
        </p:nvSpPr>
        <p:spPr>
          <a:xfrm>
            <a:off x="5368320" y="4305960"/>
            <a:ext cx="3893040" cy="21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Real-time BS metrics → </a:t>
            </a:r>
            <a:r>
              <a:rPr b="1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Prediction</a:t>
            </a:r>
            <a:r>
              <a:rPr b="0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 (estimate energy use) → </a:t>
            </a:r>
            <a:r>
              <a:rPr b="1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Optimisation</a:t>
            </a:r>
            <a:r>
              <a:rPr b="0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 (select action) → </a:t>
            </a:r>
            <a:r>
              <a:rPr b="1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Feedback</a:t>
            </a:r>
            <a:r>
              <a:rPr b="0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 (policy enforcement/rollback) → </a:t>
            </a:r>
            <a:r>
              <a:rPr b="1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Orchestration</a:t>
            </a:r>
            <a:r>
              <a:rPr b="0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 (apply changes).</a:t>
            </a:r>
            <a:endParaRPr b="0" lang="en-US" sz="17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8" name="Image 2" descr="preencoded.png"/>
          <p:cNvPicPr/>
          <p:nvPr/>
        </p:nvPicPr>
        <p:blipFill>
          <a:blip r:embed="rId3"/>
          <a:stretch/>
        </p:blipFill>
        <p:spPr>
          <a:xfrm>
            <a:off x="9488880" y="2681640"/>
            <a:ext cx="4347000" cy="906480"/>
          </a:xfrm>
          <a:prstGeom prst="rect">
            <a:avLst/>
          </a:prstGeom>
          <a:ln w="0">
            <a:noFill/>
          </a:ln>
        </p:spPr>
      </p:pic>
      <p:sp>
        <p:nvSpPr>
          <p:cNvPr id="129" name="Text 5"/>
          <p:cNvSpPr/>
          <p:nvPr/>
        </p:nvSpPr>
        <p:spPr>
          <a:xfrm>
            <a:off x="9715680" y="3815640"/>
            <a:ext cx="2834640" cy="35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75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464646"/>
                </a:solidFill>
                <a:latin typeface="DM Sans Semi Bold"/>
                <a:ea typeface="DM Sans Semi Bold"/>
              </a:rPr>
              <a:t>ZeroMQ Advantage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Text 6"/>
          <p:cNvSpPr/>
          <p:nvPr/>
        </p:nvSpPr>
        <p:spPr>
          <a:xfrm>
            <a:off x="9715680" y="4305960"/>
            <a:ext cx="3893040" cy="10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Enables low-latency, straightforward Python</a:t>
            </a:r>
            <a:r>
              <a:rPr b="0" lang="en-US" sz="1750" spc="-1" strike="noStrike">
                <a:solidFill>
                  <a:srgbClr val="000000"/>
                </a:solidFill>
                <a:latin typeface="Inter Medium"/>
                <a:ea typeface="Inter Medium"/>
              </a:rPr>
              <a:t>↔</a:t>
            </a:r>
            <a:r>
              <a:rPr b="0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C++ communications.</a:t>
            </a:r>
            <a:endParaRPr b="0" lang="en-US" sz="17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1" name="Picture 11" descr="A white background with black dots&#10;&#10;AI-generated content may be incorrect."/>
          <p:cNvPicPr/>
          <p:nvPr/>
        </p:nvPicPr>
        <p:blipFill>
          <a:blip r:embed="rId4"/>
          <a:stretch/>
        </p:blipFill>
        <p:spPr>
          <a:xfrm>
            <a:off x="12649320" y="7730280"/>
            <a:ext cx="1980360" cy="456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Image 0" descr="preencoded.png"/>
          <p:cNvPicPr/>
          <p:nvPr/>
        </p:nvPicPr>
        <p:blipFill>
          <a:blip r:embed="rId1"/>
          <a:stretch/>
        </p:blipFill>
        <p:spPr>
          <a:xfrm>
            <a:off x="7315200" y="0"/>
            <a:ext cx="7314480" cy="8228880"/>
          </a:xfrm>
          <a:prstGeom prst="rect">
            <a:avLst/>
          </a:prstGeom>
          <a:ln w="0">
            <a:noFill/>
          </a:ln>
        </p:spPr>
      </p:pic>
      <p:pic>
        <p:nvPicPr>
          <p:cNvPr id="133" name="Image 1" descr="preencoded.png"/>
          <p:cNvPicPr/>
          <p:nvPr/>
        </p:nvPicPr>
        <p:blipFill>
          <a:blip r:embed="rId2"/>
          <a:stretch/>
        </p:blipFill>
        <p:spPr>
          <a:xfrm>
            <a:off x="7598520" y="695520"/>
            <a:ext cx="6747480" cy="6837480"/>
          </a:xfrm>
          <a:prstGeom prst="rect">
            <a:avLst/>
          </a:prstGeom>
          <a:ln w="0">
            <a:noFill/>
          </a:ln>
        </p:spPr>
      </p:pic>
      <p:sp>
        <p:nvSpPr>
          <p:cNvPr id="134" name="Text 0"/>
          <p:cNvSpPr/>
          <p:nvPr/>
        </p:nvSpPr>
        <p:spPr>
          <a:xfrm>
            <a:off x="793800" y="3405960"/>
            <a:ext cx="572688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5550"/>
              </a:lnSpc>
              <a:tabLst>
                <a:tab algn="l" pos="0"/>
              </a:tabLst>
            </a:pPr>
            <a:r>
              <a:rPr b="0" lang="en-US" sz="4450" spc="-1" strike="noStrike">
                <a:solidFill>
                  <a:srgbClr val="030303"/>
                </a:solidFill>
                <a:latin typeface="DM Sans Semi Bold"/>
                <a:ea typeface="DM Sans Semi Bold"/>
              </a:rPr>
              <a:t>System Architecture Overview</a:t>
            </a:r>
            <a:endParaRPr b="0" lang="en-US" sz="44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" descr=""/>
          <p:cNvPicPr/>
          <p:nvPr/>
        </p:nvPicPr>
        <p:blipFill>
          <a:blip r:embed="rId1"/>
          <a:stretch/>
        </p:blipFill>
        <p:spPr>
          <a:xfrm>
            <a:off x="228600" y="28800"/>
            <a:ext cx="14401440" cy="8228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Image 0" descr="preencoded.png"/>
          <p:cNvPicPr/>
          <p:nvPr/>
        </p:nvPicPr>
        <p:blipFill>
          <a:blip r:embed="rId1"/>
          <a:stretch/>
        </p:blipFill>
        <p:spPr>
          <a:xfrm>
            <a:off x="5486400" y="0"/>
            <a:ext cx="9143280" cy="8228880"/>
          </a:xfrm>
          <a:prstGeom prst="rect">
            <a:avLst/>
          </a:prstGeom>
          <a:ln w="0">
            <a:noFill/>
          </a:ln>
        </p:spPr>
      </p:pic>
      <p:pic>
        <p:nvPicPr>
          <p:cNvPr id="137" name="Image 1" descr="preencoded.png"/>
          <p:cNvPicPr/>
          <p:nvPr/>
        </p:nvPicPr>
        <p:blipFill>
          <a:blip r:embed="rId2"/>
          <a:stretch/>
        </p:blipFill>
        <p:spPr>
          <a:xfrm>
            <a:off x="4502880" y="560880"/>
            <a:ext cx="10120320" cy="7106760"/>
          </a:xfrm>
          <a:prstGeom prst="rect">
            <a:avLst/>
          </a:prstGeom>
          <a:ln w="0">
            <a:noFill/>
          </a:ln>
        </p:spPr>
      </p:pic>
      <p:sp>
        <p:nvSpPr>
          <p:cNvPr id="138" name="Text 0"/>
          <p:cNvSpPr/>
          <p:nvPr/>
        </p:nvSpPr>
        <p:spPr>
          <a:xfrm>
            <a:off x="793800" y="3051720"/>
            <a:ext cx="3898080" cy="212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5550"/>
              </a:lnSpc>
              <a:tabLst>
                <a:tab algn="l" pos="0"/>
              </a:tabLst>
            </a:pPr>
            <a:r>
              <a:rPr b="0" lang="en-US" sz="4450" spc="-1" strike="noStrike">
                <a:solidFill>
                  <a:srgbClr val="030303"/>
                </a:solidFill>
                <a:latin typeface="DM Sans Semi Bold"/>
                <a:ea typeface="DM Sans Semi Bold"/>
              </a:rPr>
              <a:t>Detailed Sequence of Operations</a:t>
            </a:r>
            <a:endParaRPr b="0" lang="en-US" sz="44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 0"/>
          <p:cNvSpPr/>
          <p:nvPr/>
        </p:nvSpPr>
        <p:spPr>
          <a:xfrm>
            <a:off x="793800" y="1471680"/>
            <a:ext cx="11342160" cy="70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5550"/>
              </a:lnSpc>
              <a:tabLst>
                <a:tab algn="l" pos="0"/>
              </a:tabLst>
            </a:pPr>
            <a:r>
              <a:rPr b="0" lang="en-US" sz="4450" spc="-1" strike="noStrike">
                <a:solidFill>
                  <a:srgbClr val="030303"/>
                </a:solidFill>
                <a:latin typeface="DM Sans Semi Bold"/>
                <a:ea typeface="DM Sans Semi Bold"/>
              </a:rPr>
              <a:t>Deciphering Energy Conservation Metrics</a:t>
            </a:r>
            <a:endParaRPr b="0" lang="en-US" sz="4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Text 1"/>
          <p:cNvSpPr/>
          <p:nvPr/>
        </p:nvSpPr>
        <p:spPr>
          <a:xfrm>
            <a:off x="793800" y="2724840"/>
            <a:ext cx="6243840" cy="72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2849"/>
              </a:lnSpc>
              <a:buClr>
                <a:srgbClr val="464646"/>
              </a:buClr>
              <a:buFont typeface="Symbol" charset="2"/>
              <a:buChar char=""/>
            </a:pPr>
            <a:r>
              <a:rPr b="1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Power (W):</a:t>
            </a:r>
            <a:r>
              <a:rPr b="0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 Measures instantaneous energy consumption.</a:t>
            </a:r>
            <a:endParaRPr b="0" lang="en-US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Text 2"/>
          <p:cNvSpPr/>
          <p:nvPr/>
        </p:nvSpPr>
        <p:spPr>
          <a:xfrm>
            <a:off x="793800" y="3529800"/>
            <a:ext cx="6243840" cy="72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2849"/>
              </a:lnSpc>
              <a:buClr>
                <a:srgbClr val="464646"/>
              </a:buClr>
              <a:buFont typeface="Symbol" charset="2"/>
              <a:buChar char=""/>
            </a:pPr>
            <a:r>
              <a:rPr b="1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Energy (J or Wh/kWh):</a:t>
            </a:r>
            <a:r>
              <a:rPr b="0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 Represents power use over time.</a:t>
            </a:r>
            <a:endParaRPr b="0" lang="en-US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 3"/>
          <p:cNvSpPr/>
          <p:nvPr/>
        </p:nvSpPr>
        <p:spPr>
          <a:xfrm>
            <a:off x="793800" y="4459680"/>
            <a:ext cx="6243840" cy="10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849"/>
              </a:lnSpc>
              <a:tabLst>
                <a:tab algn="l" pos="0"/>
              </a:tabLst>
            </a:pPr>
            <a:r>
              <a:rPr b="1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Simu5G Integration:</a:t>
            </a:r>
            <a:r>
              <a:rPr b="0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 Provides power states (active, micro, deep) and a power formula related to PRB utilisation:</a:t>
            </a:r>
            <a:endParaRPr b="0" lang="en-US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Text 4"/>
          <p:cNvSpPr/>
          <p:nvPr/>
        </p:nvSpPr>
        <p:spPr>
          <a:xfrm>
            <a:off x="793800" y="5835600"/>
            <a:ext cx="6243840" cy="63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44" name="Image 0" descr="preencoded.png"/>
          <p:cNvPicPr/>
          <p:nvPr/>
        </p:nvPicPr>
        <p:blipFill>
          <a:blip r:embed="rId1"/>
          <a:stretch/>
        </p:blipFill>
        <p:spPr>
          <a:xfrm>
            <a:off x="793800" y="5835600"/>
            <a:ext cx="6243840" cy="634320"/>
          </a:xfrm>
          <a:prstGeom prst="rect">
            <a:avLst/>
          </a:prstGeom>
          <a:ln w="0">
            <a:noFill/>
          </a:ln>
        </p:spPr>
      </p:pic>
      <p:sp>
        <p:nvSpPr>
          <p:cNvPr id="145" name="Text 5"/>
          <p:cNvSpPr/>
          <p:nvPr/>
        </p:nvSpPr>
        <p:spPr>
          <a:xfrm>
            <a:off x="7599600" y="2724840"/>
            <a:ext cx="6243840" cy="10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We integrate power over a given period to determine energy consumption and benchmark against baseline results.</a:t>
            </a:r>
            <a:endParaRPr b="0" lang="en-US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Text 6"/>
          <p:cNvSpPr/>
          <p:nvPr/>
        </p:nvSpPr>
        <p:spPr>
          <a:xfrm>
            <a:off x="7599600" y="4017600"/>
            <a:ext cx="624384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849"/>
              </a:lnSpc>
              <a:tabLst>
                <a:tab algn="l" pos="0"/>
              </a:tabLst>
            </a:pPr>
            <a:r>
              <a:rPr b="1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Result Presentation:</a:t>
            </a:r>
            <a:endParaRPr b="0" lang="en-US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7"/>
          <p:cNvSpPr/>
          <p:nvPr/>
        </p:nvSpPr>
        <p:spPr>
          <a:xfrm>
            <a:off x="7599600" y="4584600"/>
            <a:ext cx="6243840" cy="72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2849"/>
              </a:lnSpc>
              <a:buClr>
                <a:srgbClr val="464646"/>
              </a:buClr>
              <a:buFont typeface="Symbol" charset="2"/>
              <a:buChar char=""/>
            </a:pPr>
            <a:r>
              <a:rPr b="1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% Energy Saved</a:t>
            </a:r>
            <a:r>
              <a:rPr b="0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 = (Ebaseline - Eoptimised)/Ebseline x 100%</a:t>
            </a:r>
            <a:endParaRPr b="0" lang="en-US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Text 8"/>
          <p:cNvSpPr/>
          <p:nvPr/>
        </p:nvSpPr>
        <p:spPr>
          <a:xfrm>
            <a:off x="7599600" y="5389560"/>
            <a:ext cx="624384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 defTabSz="914400">
              <a:lnSpc>
                <a:spcPts val="2849"/>
              </a:lnSpc>
              <a:buClr>
                <a:srgbClr val="464646"/>
              </a:buClr>
              <a:buFont typeface="Symbol" charset="2"/>
              <a:buChar char=""/>
            </a:pPr>
            <a:r>
              <a:rPr b="0" lang="en-US" sz="1750" spc="-1" strike="noStrike">
                <a:solidFill>
                  <a:srgbClr val="464646"/>
                </a:solidFill>
                <a:latin typeface="Inter Medium"/>
                <a:ea typeface="Inter Medium"/>
              </a:rPr>
              <a:t>Absolute kWh saved for the specified duration.</a:t>
            </a:r>
            <a:endParaRPr b="0" lang="en-US" sz="1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 9"/>
          <p:cNvSpPr/>
          <p:nvPr/>
        </p:nvSpPr>
        <p:spPr>
          <a:xfrm>
            <a:off x="7599600" y="5956560"/>
            <a:ext cx="624384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ts val="2849"/>
              </a:lnSpc>
              <a:tabLst>
                <a:tab algn="l" pos="0"/>
              </a:tabLst>
            </a:pPr>
            <a:endParaRPr b="0" lang="en-US" sz="175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50" name="Picture 12" descr="A white background with black dots&#10;&#10;AI-generated content may be incorrect."/>
          <p:cNvPicPr/>
          <p:nvPr/>
        </p:nvPicPr>
        <p:blipFill>
          <a:blip r:embed="rId2"/>
          <a:stretch/>
        </p:blipFill>
        <p:spPr>
          <a:xfrm>
            <a:off x="12649320" y="7730280"/>
            <a:ext cx="1980360" cy="456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Picture 3" descr="A white background with black dots&#10;&#10;AI-generated content may be incorrect."/>
          <p:cNvPicPr/>
          <p:nvPr/>
        </p:nvPicPr>
        <p:blipFill>
          <a:blip r:embed="rId1"/>
          <a:stretch/>
        </p:blipFill>
        <p:spPr>
          <a:xfrm>
            <a:off x="12649320" y="7730280"/>
            <a:ext cx="1980360" cy="456480"/>
          </a:xfrm>
          <a:prstGeom prst="rect">
            <a:avLst/>
          </a:prstGeom>
          <a:ln w="0">
            <a:noFill/>
          </a:ln>
        </p:spPr>
      </p:pic>
      <p:pic>
        <p:nvPicPr>
          <p:cNvPr id="152" name="" descr=""/>
          <p:cNvPicPr/>
          <p:nvPr/>
        </p:nvPicPr>
        <p:blipFill>
          <a:blip r:embed="rId2"/>
          <a:stretch/>
        </p:blipFill>
        <p:spPr>
          <a:xfrm>
            <a:off x="1143000" y="0"/>
            <a:ext cx="12801240" cy="8229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" descr=""/>
          <p:cNvPicPr/>
          <p:nvPr/>
        </p:nvPicPr>
        <p:blipFill>
          <a:blip r:embed="rId1"/>
          <a:stretch/>
        </p:blipFill>
        <p:spPr>
          <a:xfrm>
            <a:off x="59400" y="228960"/>
            <a:ext cx="14570640" cy="8000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Picture 1" descr="A white background with black dots&#10;&#10;AI-generated content may be incorrect."/>
          <p:cNvPicPr/>
          <p:nvPr/>
        </p:nvPicPr>
        <p:blipFill>
          <a:blip r:embed="rId1"/>
          <a:stretch/>
        </p:blipFill>
        <p:spPr>
          <a:xfrm>
            <a:off x="12649320" y="7730280"/>
            <a:ext cx="1980360" cy="456480"/>
          </a:xfrm>
          <a:prstGeom prst="rect">
            <a:avLst/>
          </a:prstGeom>
          <a:ln w="0">
            <a:noFill/>
          </a:ln>
        </p:spPr>
      </p:pic>
      <p:pic>
        <p:nvPicPr>
          <p:cNvPr id="155" name="Picture 5" descr="A page of a document&#10;&#10;AI-generated content may be incorrect."/>
          <p:cNvPicPr/>
          <p:nvPr/>
        </p:nvPicPr>
        <p:blipFill>
          <a:blip r:embed="rId2"/>
          <a:stretch/>
        </p:blipFill>
        <p:spPr>
          <a:xfrm>
            <a:off x="3144960" y="0"/>
            <a:ext cx="7827120" cy="8228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Picture 1" descr="A white background with black dots&#10;&#10;AI-generated content may be incorrect."/>
          <p:cNvPicPr/>
          <p:nvPr/>
        </p:nvPicPr>
        <p:blipFill>
          <a:blip r:embed="rId1"/>
          <a:stretch/>
        </p:blipFill>
        <p:spPr>
          <a:xfrm>
            <a:off x="12649320" y="7730280"/>
            <a:ext cx="1980360" cy="456480"/>
          </a:xfrm>
          <a:prstGeom prst="rect">
            <a:avLst/>
          </a:prstGeom>
          <a:ln w="0">
            <a:noFill/>
          </a:ln>
        </p:spPr>
      </p:pic>
      <p:sp>
        <p:nvSpPr>
          <p:cNvPr id="157" name="TextBox 2"/>
          <p:cNvSpPr/>
          <p:nvPr/>
        </p:nvSpPr>
        <p:spPr>
          <a:xfrm>
            <a:off x="3006360" y="2999520"/>
            <a:ext cx="838116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ts val="5550"/>
              </a:lnSpc>
            </a:pPr>
            <a:r>
              <a:rPr b="0" lang="en-US" sz="4000" spc="-1" strike="noStrike">
                <a:solidFill>
                  <a:srgbClr val="030303"/>
                </a:solidFill>
                <a:latin typeface="DM Sans Semi Bold"/>
              </a:rPr>
              <a:t>OUTPUT &amp; CONCLUSION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Picture 1" descr="A white background with black dots&#10;&#10;AI-generated content may be incorrect."/>
          <p:cNvPicPr/>
          <p:nvPr/>
        </p:nvPicPr>
        <p:blipFill>
          <a:blip r:embed="rId1"/>
          <a:stretch/>
        </p:blipFill>
        <p:spPr>
          <a:xfrm>
            <a:off x="12649320" y="7730280"/>
            <a:ext cx="1980360" cy="456480"/>
          </a:xfrm>
          <a:prstGeom prst="rect">
            <a:avLst/>
          </a:prstGeom>
          <a:ln w="0">
            <a:noFill/>
          </a:ln>
        </p:spPr>
      </p:pic>
      <p:sp>
        <p:nvSpPr>
          <p:cNvPr id="159" name="TextBox 4"/>
          <p:cNvSpPr/>
          <p:nvPr/>
        </p:nvSpPr>
        <p:spPr>
          <a:xfrm>
            <a:off x="0" y="0"/>
            <a:ext cx="3989520" cy="11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3500" spc="-1" strike="noStrike">
                <a:solidFill>
                  <a:schemeClr val="dk1"/>
                </a:solidFill>
                <a:latin typeface="Calibri"/>
              </a:rPr>
              <a:t>Output screenshots</a:t>
            </a:r>
            <a:endParaRPr b="0" lang="en-US" sz="35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0" name="" descr=""/>
          <p:cNvPicPr/>
          <p:nvPr/>
        </p:nvPicPr>
        <p:blipFill>
          <a:blip r:embed="rId2"/>
          <a:stretch/>
        </p:blipFill>
        <p:spPr>
          <a:xfrm>
            <a:off x="76680" y="1156680"/>
            <a:ext cx="6411960" cy="3200040"/>
          </a:xfrm>
          <a:prstGeom prst="rect">
            <a:avLst/>
          </a:prstGeom>
          <a:ln w="0">
            <a:noFill/>
          </a:ln>
        </p:spPr>
      </p:pic>
      <p:pic>
        <p:nvPicPr>
          <p:cNvPr id="161" name="" descr=""/>
          <p:cNvPicPr/>
          <p:nvPr/>
        </p:nvPicPr>
        <p:blipFill>
          <a:blip r:embed="rId3"/>
          <a:stretch/>
        </p:blipFill>
        <p:spPr>
          <a:xfrm>
            <a:off x="7094160" y="1143000"/>
            <a:ext cx="7307280" cy="3200040"/>
          </a:xfrm>
          <a:prstGeom prst="rect">
            <a:avLst/>
          </a:prstGeom>
          <a:ln w="0">
            <a:noFill/>
          </a:ln>
        </p:spPr>
      </p:pic>
      <p:pic>
        <p:nvPicPr>
          <p:cNvPr id="162" name="" descr=""/>
          <p:cNvPicPr/>
          <p:nvPr/>
        </p:nvPicPr>
        <p:blipFill>
          <a:blip r:embed="rId4"/>
          <a:stretch/>
        </p:blipFill>
        <p:spPr>
          <a:xfrm>
            <a:off x="228600" y="4534200"/>
            <a:ext cx="6400440" cy="3466440"/>
          </a:xfrm>
          <a:prstGeom prst="rect">
            <a:avLst/>
          </a:prstGeom>
          <a:ln w="0">
            <a:noFill/>
          </a:ln>
        </p:spPr>
      </p:pic>
      <p:pic>
        <p:nvPicPr>
          <p:cNvPr id="163" name="" descr=""/>
          <p:cNvPicPr/>
          <p:nvPr/>
        </p:nvPicPr>
        <p:blipFill>
          <a:blip r:embed="rId5"/>
          <a:stretch/>
        </p:blipFill>
        <p:spPr>
          <a:xfrm>
            <a:off x="7086600" y="4800600"/>
            <a:ext cx="7314840" cy="2285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Picture 1" descr="A white background with black dots&#10;&#10;AI-generated content may be incorrect."/>
          <p:cNvPicPr/>
          <p:nvPr/>
        </p:nvPicPr>
        <p:blipFill>
          <a:blip r:embed="rId1"/>
          <a:stretch/>
        </p:blipFill>
        <p:spPr>
          <a:xfrm>
            <a:off x="12649320" y="7730280"/>
            <a:ext cx="1980360" cy="456480"/>
          </a:xfrm>
          <a:prstGeom prst="rect">
            <a:avLst/>
          </a:prstGeom>
          <a:ln w="0">
            <a:noFill/>
          </a:ln>
        </p:spPr>
      </p:pic>
      <p:pic>
        <p:nvPicPr>
          <p:cNvPr id="165" name="Picture 3" descr="A graph with red and blue bars&#10;&#10;AI-generated content may be incorrect."/>
          <p:cNvPicPr/>
          <p:nvPr/>
        </p:nvPicPr>
        <p:blipFill>
          <a:blip r:embed="rId2"/>
          <a:stretch/>
        </p:blipFill>
        <p:spPr>
          <a:xfrm>
            <a:off x="6999120" y="381600"/>
            <a:ext cx="7492680" cy="4411800"/>
          </a:xfrm>
          <a:prstGeom prst="rect">
            <a:avLst/>
          </a:prstGeom>
          <a:ln w="0">
            <a:noFill/>
          </a:ln>
        </p:spPr>
      </p:pic>
      <p:pic>
        <p:nvPicPr>
          <p:cNvPr id="166" name="Picture 5" descr="A graph with red and blue bars&#10;&#10;AI-generated content may be incorrect."/>
          <p:cNvPicPr/>
          <p:nvPr/>
        </p:nvPicPr>
        <p:blipFill>
          <a:blip r:embed="rId3"/>
          <a:stretch/>
        </p:blipFill>
        <p:spPr>
          <a:xfrm>
            <a:off x="234720" y="2735640"/>
            <a:ext cx="6763680" cy="5222520"/>
          </a:xfrm>
          <a:prstGeom prst="rect">
            <a:avLst/>
          </a:prstGeom>
          <a:ln w="0">
            <a:noFill/>
          </a:ln>
        </p:spPr>
      </p:pic>
      <p:sp>
        <p:nvSpPr>
          <p:cNvPr id="167" name="TextBox 7"/>
          <p:cNvSpPr/>
          <p:nvPr/>
        </p:nvSpPr>
        <p:spPr>
          <a:xfrm>
            <a:off x="1136160" y="1163880"/>
            <a:ext cx="47376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3000" spc="-1" strike="noStrike">
                <a:solidFill>
                  <a:schemeClr val="dk1"/>
                </a:solidFill>
                <a:latin typeface="Calibri"/>
              </a:rPr>
              <a:t>THE SHAP GRAPHS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Picture 1" descr="A white background with black dots&#10;&#10;AI-generated content may be incorrect."/>
          <p:cNvPicPr/>
          <p:nvPr/>
        </p:nvPicPr>
        <p:blipFill>
          <a:blip r:embed="rId1"/>
          <a:stretch/>
        </p:blipFill>
        <p:spPr>
          <a:xfrm>
            <a:off x="12649320" y="7730280"/>
            <a:ext cx="1980360" cy="456480"/>
          </a:xfrm>
          <a:prstGeom prst="rect">
            <a:avLst/>
          </a:prstGeom>
          <a:ln w="0">
            <a:noFill/>
          </a:ln>
        </p:spPr>
      </p:pic>
      <p:sp>
        <p:nvSpPr>
          <p:cNvPr id="169" name="TextBox 2"/>
          <p:cNvSpPr/>
          <p:nvPr/>
        </p:nvSpPr>
        <p:spPr>
          <a:xfrm>
            <a:off x="5278680" y="3435840"/>
            <a:ext cx="3504600" cy="16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5000" spc="-1" strike="noStrike">
                <a:solidFill>
                  <a:schemeClr val="dk1"/>
                </a:solidFill>
                <a:latin typeface="Calibri"/>
              </a:rPr>
              <a:t>THANK YOU!</a:t>
            </a:r>
            <a:endParaRPr b="0" lang="en-US" sz="5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282</TotalTime>
  <Application>LibreOffice/24.2.7.2$Linux_X86_64 LibreOffice_project/420$Build-2</Application>
  <AppVersion>15.0000</AppVersion>
  <Words>683</Words>
  <Paragraphs>80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2025-09-24T11:16:10Z</dcterms:created>
  <dc:creator/>
  <dc:description/>
  <dc:language>en-US</dc:language>
  <cp:lastModifiedBy/>
  <dcterms:modified xsi:type="dcterms:W3CDTF">2025-10-09T09:15:49Z</dcterms:modified>
  <cp:revision>15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Custom</vt:lpwstr>
  </property>
  <property fmtid="{D5CDD505-2E9C-101B-9397-08002B2CF9AE}" pid="4" name="Slides">
    <vt:i4>18</vt:i4>
  </property>
</Properties>
</file>