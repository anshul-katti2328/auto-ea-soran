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4630400" cy="8229600"/>
  <p:notesSz cx="8229600" cy="14630400"/>
  <p:embeddedFontLst>
    <p:embeddedFont>
      <p:font typeface="DM Sans Semi Bold" pitchFamily="2" charset="77"/>
      <p:regular r:id="rId12"/>
    </p:embeddedFont>
    <p:embeddedFont>
      <p:font typeface="Inter Medium" panose="02000503000000020004" pitchFamily="2" charset="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52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86206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745462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Auto EA-SORAN: Weekly Progress Update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503182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AI-Driven 5G RAN Energy Optimization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5121235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Team: NoWiresAttached</a:t>
            </a:r>
            <a:endParaRPr lang="en-US" sz="1750" dirty="0"/>
          </a:p>
        </p:txBody>
      </p:sp>
      <p:pic>
        <p:nvPicPr>
          <p:cNvPr id="7" name="Picture 6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7DB81BDF-956E-BEE9-31C3-4147F3D068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85882" y="7573817"/>
            <a:ext cx="1619828" cy="5310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4659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Agenda for Today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340899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Summary of Weekly Accomplishments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793790" y="385119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Key Findings from Literature Review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4293394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Guidance from Project Advisors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4735592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Finalized System Architecture and Flow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793790" y="517779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Agent Implementation Progress &amp; Code Walkthrough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5619988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Plan for the Upcoming Week</a:t>
            </a:r>
            <a:endParaRPr lang="en-US" sz="1750" dirty="0"/>
          </a:p>
        </p:txBody>
      </p:sp>
      <p:pic>
        <p:nvPicPr>
          <p:cNvPr id="9" name="Picture 8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AB96F44B-BF7E-25E4-730F-76BE1EDAB7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85882" y="7573817"/>
            <a:ext cx="1619828" cy="53109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12633"/>
            <a:ext cx="710481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Weekly Accomplishments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17504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1530906" y="3252907"/>
            <a:ext cx="397085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Literature Review Completed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530906" y="3743325"/>
            <a:ext cx="564249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Extensive review detailing our implementation framework.</a:t>
            </a:r>
            <a:endParaRPr lang="en-US" sz="1750" dirty="0"/>
          </a:p>
        </p:txBody>
      </p:sp>
      <p:sp>
        <p:nvSpPr>
          <p:cNvPr id="6" name="Shape 4"/>
          <p:cNvSpPr/>
          <p:nvPr/>
        </p:nvSpPr>
        <p:spPr>
          <a:xfrm>
            <a:off x="7456884" y="317504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194000" y="3252907"/>
            <a:ext cx="286440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Advisor Consultation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194000" y="3743325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Discussion with Vishnu sir and Preksha ma'am on validation frameworks.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793790" y="492275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530906" y="5000625"/>
            <a:ext cx="31962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Architecture Visualized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530906" y="5491043"/>
            <a:ext cx="564249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Finalized and charted the multi-agent system.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7456884" y="4922758"/>
            <a:ext cx="510302" cy="510302"/>
          </a:xfrm>
          <a:prstGeom prst="roundRect">
            <a:avLst>
              <a:gd name="adj" fmla="val 6667"/>
            </a:avLst>
          </a:prstGeom>
          <a:solidFill>
            <a:srgbClr val="F2EEE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194000" y="5000625"/>
            <a:ext cx="3351490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Base Code Implemented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194000" y="5491043"/>
            <a:ext cx="564261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Prediction and Optimization agents' foundational code is complete.</a:t>
            </a:r>
            <a:endParaRPr lang="en-US" sz="1750" dirty="0"/>
          </a:p>
        </p:txBody>
      </p:sp>
      <p:pic>
        <p:nvPicPr>
          <p:cNvPr id="15" name="Picture 14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FF607A09-466F-551A-923C-626A57CF1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85882" y="7573817"/>
            <a:ext cx="1619828" cy="53109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137" y="409456"/>
            <a:ext cx="5109210" cy="465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Deep Dive: Literature Review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137" y="1246942"/>
            <a:ext cx="1890593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1C977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Scope &amp; Focus Areas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21137" y="1628537"/>
            <a:ext cx="6612374" cy="476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Each team member reviewed approximately 10 research papers, focusing on three core areas: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21137" y="2238970"/>
            <a:ext cx="6612374" cy="476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Simu5G/OMNET++:</a:t>
            </a: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Digital twin capabilities, API for external control, and dynamic parameter modification.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521137" y="2767489"/>
            <a:ext cx="6612374" cy="476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5G gNodeB Energy Models:</a:t>
            </a: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Established linear and state-based power consumption models.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21137" y="3296007"/>
            <a:ext cx="6612374" cy="238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850"/>
              </a:lnSpc>
              <a:buSzPct val="100000"/>
              <a:buChar char="•"/>
            </a:pPr>
            <a:r>
              <a:rPr lang="en-US" sz="11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3GPP Energy Efficiency (EE) Standards:</a:t>
            </a: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Official KPIs and performance metrics.</a:t>
            </a:r>
            <a:endParaRPr lang="en-US" sz="115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4509" y="1265634"/>
            <a:ext cx="6612374" cy="661237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504509" y="8045529"/>
            <a:ext cx="1861542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1C9770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Outcome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504509" y="8427125"/>
            <a:ext cx="6612374" cy="71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Synthesized findings into a comprehensive technical report, now serving as our implementation blueprint. This robust foundation ensures our approach is grounded in leading research and industry standards.</a:t>
            </a:r>
            <a:endParaRPr lang="en-US" sz="1150" dirty="0"/>
          </a:p>
        </p:txBody>
      </p:sp>
      <p:pic>
        <p:nvPicPr>
          <p:cNvPr id="11" name="Picture 10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A0239821-70A8-3D8F-B323-DBC72AA795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85882" y="7573817"/>
            <a:ext cx="1619828" cy="53109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1137" y="409456"/>
            <a:ext cx="6182558" cy="4652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Guidance on Policies &amp; Thresholds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21137" y="1246942"/>
            <a:ext cx="3348037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Consultation &amp; Key Recommendation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21137" y="1628537"/>
            <a:ext cx="6612374" cy="476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We consulted with Vishnu sir and Preksha ma'am for insights on defining operational policies for our </a:t>
            </a:r>
            <a:r>
              <a:rPr lang="en-US" sz="11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Feedback Agent</a:t>
            </a: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744498" y="2272546"/>
            <a:ext cx="6389013" cy="476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"Instead of creating arbitrary thresholds, align validation logic with established </a:t>
            </a:r>
            <a:r>
              <a:rPr lang="en-US" sz="1150" dirty="0">
                <a:solidFill>
                  <a:srgbClr val="1C977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3GPP standards</a:t>
            </a: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for Energy Efficiency (EE) and Quality of Service (QoS)."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21137" y="2272546"/>
            <a:ext cx="15240" cy="476488"/>
          </a:xfrm>
          <a:prstGeom prst="rect">
            <a:avLst/>
          </a:prstGeom>
          <a:solidFill>
            <a:srgbClr val="1C9770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4509" y="409456"/>
            <a:ext cx="6612374" cy="661237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36377" y="3275285"/>
            <a:ext cx="1861542" cy="2327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Action Taken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491728" y="3963580"/>
            <a:ext cx="6612374" cy="7147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5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This feedback prompted a deeper review of 3GPP EE documentation, which will directly inform the logic of the Feedback Agent. This ensures our energy-saving policies are both effective and industry-compliant.</a:t>
            </a:r>
            <a:endParaRPr lang="en-US" sz="1150" dirty="0"/>
          </a:p>
        </p:txBody>
      </p:sp>
      <p:pic>
        <p:nvPicPr>
          <p:cNvPr id="10" name="Picture 9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85AA5DA8-D2E0-860B-9760-07A926C5E8D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85882" y="7573817"/>
            <a:ext cx="1619828" cy="5310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80494" y="501556"/>
            <a:ext cx="819233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System Architecture Finalized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380494" y="1794398"/>
            <a:ext cx="7835251" cy="11386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To clarify the interaction between components, we've created a definitive</a:t>
            </a: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architectural flowchart.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380494" y="674665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system is split into two main parts: the </a:t>
            </a: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Simu5G Environment</a:t>
            </a: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acts as the digital twin, and the </a:t>
            </a: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External AI Agents</a:t>
            </a: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handle all decision-making. This clear separation of concerns is a core design principle.</a:t>
            </a:r>
            <a:endParaRPr lang="en-US" sz="1750" dirty="0"/>
          </a:p>
        </p:txBody>
      </p:sp>
      <p:pic>
        <p:nvPicPr>
          <p:cNvPr id="6" name="Picture 5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69473FC5-D62B-D76E-2545-082761F030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85882" y="7573817"/>
            <a:ext cx="1619828" cy="531091"/>
          </a:xfrm>
          <a:prstGeom prst="rect">
            <a:avLst/>
          </a:prstGeom>
        </p:spPr>
      </p:pic>
      <p:pic>
        <p:nvPicPr>
          <p:cNvPr id="8" name="Picture 7" descr="A diagram of a system&#10;&#10;AI-generated content may be incorrect.">
            <a:extLst>
              <a:ext uri="{FF2B5EF4-FFF2-40B4-BE49-F238E27FC236}">
                <a16:creationId xmlns:a16="http://schemas.microsoft.com/office/drawing/2014/main" id="{1C6EB851-C473-3CA7-2F33-2C276F258B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37368" y="855945"/>
            <a:ext cx="5900016" cy="5669546"/>
          </a:xfrm>
          <a:prstGeom prst="rect">
            <a:avLst/>
          </a:prstGeom>
        </p:spPr>
      </p:pic>
      <p:pic>
        <p:nvPicPr>
          <p:cNvPr id="9" name="Picture 8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326BDF9A-E059-C55F-BF2A-CE526744D8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8282" y="7726217"/>
            <a:ext cx="1619828" cy="53109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3425" y="743664"/>
            <a:ext cx="5698807" cy="6548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50"/>
              </a:lnSpc>
              <a:buNone/>
            </a:pPr>
            <a:r>
              <a:rPr lang="en-US" sz="410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Agent Interaction Flow</a:t>
            </a:r>
            <a:endParaRPr lang="en-US" sz="4100" dirty="0"/>
          </a:p>
        </p:txBody>
      </p:sp>
      <p:sp>
        <p:nvSpPr>
          <p:cNvPr id="3" name="Text 1"/>
          <p:cNvSpPr/>
          <p:nvPr/>
        </p:nvSpPr>
        <p:spPr>
          <a:xfrm>
            <a:off x="733425" y="1817608"/>
            <a:ext cx="13163550" cy="3352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agents operate in a continuous closed loop, ensuring dynamic and optimized energy management.</a:t>
            </a:r>
            <a:endParaRPr lang="en-US" sz="16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3425" y="2388632"/>
            <a:ext cx="6581775" cy="838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42975" y="3436382"/>
            <a:ext cx="2619375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State Export</a:t>
            </a:r>
            <a:endParaRPr lang="en-US" sz="2050" dirty="0"/>
          </a:p>
        </p:txBody>
      </p:sp>
      <p:sp>
        <p:nvSpPr>
          <p:cNvPr id="6" name="Text 3"/>
          <p:cNvSpPr/>
          <p:nvPr/>
        </p:nvSpPr>
        <p:spPr>
          <a:xfrm>
            <a:off x="942975" y="3889534"/>
            <a:ext cx="6162675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5G Base Station Model in Simu5G sends current network state data (e.g., PRB usage) to the agents for analysis.</a:t>
            </a:r>
            <a:endParaRPr lang="en-US" sz="16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2388632"/>
            <a:ext cx="6581775" cy="838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524750" y="3436382"/>
            <a:ext cx="2619375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Predict &amp; Optimize</a:t>
            </a:r>
            <a:endParaRPr lang="en-US" sz="2050" dirty="0"/>
          </a:p>
        </p:txBody>
      </p:sp>
      <p:sp>
        <p:nvSpPr>
          <p:cNvPr id="9" name="Text 5"/>
          <p:cNvSpPr/>
          <p:nvPr/>
        </p:nvSpPr>
        <p:spPr>
          <a:xfrm>
            <a:off x="7524750" y="3889534"/>
            <a:ext cx="6162675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</a:t>
            </a:r>
            <a:r>
              <a:rPr lang="en-US" sz="16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Prediction Agent</a:t>
            </a: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forecasts energy use, and the </a:t>
            </a:r>
            <a:r>
              <a:rPr lang="en-US" sz="16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Optimization Agent</a:t>
            </a: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formulates an energy-saving plan.</a:t>
            </a:r>
            <a:endParaRPr lang="en-US" sz="16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" y="4769644"/>
            <a:ext cx="6581775" cy="8382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42975" y="5817394"/>
            <a:ext cx="2619375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Validate</a:t>
            </a:r>
            <a:endParaRPr lang="en-US" sz="2050" dirty="0"/>
          </a:p>
        </p:txBody>
      </p:sp>
      <p:sp>
        <p:nvSpPr>
          <p:cNvPr id="12" name="Text 7"/>
          <p:cNvSpPr/>
          <p:nvPr/>
        </p:nvSpPr>
        <p:spPr>
          <a:xfrm>
            <a:off x="942975" y="6270546"/>
            <a:ext cx="61626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</a:t>
            </a:r>
            <a:r>
              <a:rPr lang="en-US" sz="16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Feedback Agent</a:t>
            </a: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checks the plan against 3GPP-based policies, ensuring QoS is not compromised, and can force revisions.</a:t>
            </a:r>
            <a:endParaRPr lang="en-US" sz="16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4769644"/>
            <a:ext cx="6581775" cy="8382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524750" y="5817394"/>
            <a:ext cx="2619375" cy="327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Actuate</a:t>
            </a:r>
            <a:endParaRPr lang="en-US" sz="2050" dirty="0"/>
          </a:p>
        </p:txBody>
      </p:sp>
      <p:sp>
        <p:nvSpPr>
          <p:cNvPr id="15" name="Text 9"/>
          <p:cNvSpPr/>
          <p:nvPr/>
        </p:nvSpPr>
        <p:spPr>
          <a:xfrm>
            <a:off x="7524750" y="6270546"/>
            <a:ext cx="6162675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final, validated plan is sent to the </a:t>
            </a:r>
            <a:r>
              <a:rPr lang="en-US" sz="16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Orchestration Agent</a:t>
            </a:r>
            <a:r>
              <a:rPr lang="en-US" sz="16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which executes the changes in the Simu5G environment.</a:t>
            </a:r>
            <a:endParaRPr lang="en-US" sz="1650" dirty="0"/>
          </a:p>
        </p:txBody>
      </p:sp>
      <p:pic>
        <p:nvPicPr>
          <p:cNvPr id="16" name="Picture 15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C3F3BE7C-5CBD-217A-4620-36F86D8B114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85882" y="7573817"/>
            <a:ext cx="1619828" cy="53109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062" y="388977"/>
            <a:ext cx="5383173" cy="4419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450"/>
              </a:lnSpc>
              <a:buNone/>
            </a:pPr>
            <a:r>
              <a:rPr lang="en-US" sz="27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Agent Implementation Progress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5062" y="1184553"/>
            <a:ext cx="2487811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Foundational Code Complete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495062" y="1546979"/>
            <a:ext cx="6647617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foundational Python code for the first two agents in the chain is complete and operational.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95062" y="1900476"/>
            <a:ext cx="6647617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Prediction Agent: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Base implementation ready, designed to ingest network state data and forecast energy consumption.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95062" y="2402324"/>
            <a:ext cx="6647617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750"/>
              </a:lnSpc>
              <a:buSzPct val="100000"/>
              <a:buChar char="•"/>
            </a:pPr>
            <a:r>
              <a:rPr lang="en-US" sz="11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Optimization Agent: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Core logic for generating energy-saving plans is in place, ready to formulate efficient strategies.</a:t>
            </a:r>
            <a:endParaRPr lang="en-US" sz="11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5342" y="1202174"/>
            <a:ext cx="6647617" cy="664761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95062" y="3312166"/>
            <a:ext cx="1768316" cy="220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13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Next Steps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495062" y="3764331"/>
            <a:ext cx="6647617" cy="4524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We are now ready to proceed with a live code walkthrough to demonstrate the implemented functionalities and discuss integration points.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95062" y="4525982"/>
            <a:ext cx="6647617" cy="2262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10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Next: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Live Code Walkthrough</a:t>
            </a:r>
            <a:endParaRPr lang="en-US" sz="1100" dirty="0"/>
          </a:p>
        </p:txBody>
      </p:sp>
      <p:pic>
        <p:nvPicPr>
          <p:cNvPr id="11" name="Picture 10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20837871-78CC-69F9-06C9-510D4633C2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85882" y="7573817"/>
            <a:ext cx="1619828" cy="531091"/>
          </a:xfrm>
          <a:prstGeom prst="rect">
            <a:avLst/>
          </a:prstGeom>
        </p:spPr>
      </p:pic>
      <p:pic>
        <p:nvPicPr>
          <p:cNvPr id="12" name="Picture 11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6F2BF46A-F886-6FD7-561F-75F4240422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038282" y="7726217"/>
            <a:ext cx="1619828" cy="5310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42386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30303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Plan for Next Week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3104793"/>
            <a:ext cx="4196358" cy="3182422"/>
          </a:xfrm>
          <a:prstGeom prst="roundRect">
            <a:avLst>
              <a:gd name="adj" fmla="val 1069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793790" y="3104793"/>
            <a:ext cx="121920" cy="3182422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173004" y="33620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Agent Development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73004" y="3852505"/>
            <a:ext cx="355985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Begin implementation of the </a:t>
            </a: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Feedback Agent</a:t>
            </a: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focusing on integrating 3GPP policy checks. Develop the </a:t>
            </a:r>
            <a:r>
              <a:rPr lang="en-US" sz="1750" b="1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Orchestration Agent</a:t>
            </a: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and its in-simulation proxy for seamless control.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104793"/>
            <a:ext cx="4196358" cy="3182422"/>
          </a:xfrm>
          <a:prstGeom prst="roundRect">
            <a:avLst>
              <a:gd name="adj" fmla="val 1069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216962" y="3104793"/>
            <a:ext cx="121920" cy="3182422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596176" y="33620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Integration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596176" y="3852505"/>
            <a:ext cx="3559850" cy="21774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Establish the ZeroMQ (ZMQ) communication channel between the Python environment and the Simu5G C++ environment, enabling real-time data exchange.</a:t>
            </a:r>
            <a:endParaRPr lang="en-US" sz="1750" dirty="0"/>
          </a:p>
        </p:txBody>
      </p:sp>
      <p:sp>
        <p:nvSpPr>
          <p:cNvPr id="11" name="Shape 9"/>
          <p:cNvSpPr/>
          <p:nvPr/>
        </p:nvSpPr>
        <p:spPr>
          <a:xfrm>
            <a:off x="9640133" y="3104793"/>
            <a:ext cx="4196358" cy="3182422"/>
          </a:xfrm>
          <a:prstGeom prst="roundRect">
            <a:avLst>
              <a:gd name="adj" fmla="val 1069"/>
            </a:avLst>
          </a:prstGeom>
          <a:solidFill>
            <a:srgbClr val="FFFFFF"/>
          </a:solidFill>
          <a:ln w="30480">
            <a:solidFill>
              <a:srgbClr val="D8D4D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9640133" y="3104793"/>
            <a:ext cx="121920" cy="3182422"/>
          </a:xfrm>
          <a:prstGeom prst="roundRect">
            <a:avLst>
              <a:gd name="adj" fmla="val 27907"/>
            </a:avLst>
          </a:prstGeom>
          <a:solidFill>
            <a:srgbClr val="1C977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019348" y="336208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64646"/>
                </a:solidFill>
                <a:latin typeface="DM Sans Semi Bold" pitchFamily="34" charset="0"/>
                <a:ea typeface="DM Sans Semi Bold" pitchFamily="34" charset="-122"/>
                <a:cs typeface="DM Sans Semi Bold" pitchFamily="34" charset="-120"/>
              </a:rPr>
              <a:t>Simulation Setup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019348" y="3852505"/>
            <a:ext cx="3559850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Begin implementing the custom gNodeB energy consumption model within Simu5G to accurately reflect real-world power dynamics.</a:t>
            </a:r>
            <a:endParaRPr lang="en-US" sz="1750" dirty="0"/>
          </a:p>
        </p:txBody>
      </p:sp>
      <p:pic>
        <p:nvPicPr>
          <p:cNvPr id="15" name="Picture 14" descr="A white background with black dots&#10;&#10;AI-generated content may be incorrect.">
            <a:extLst>
              <a:ext uri="{FF2B5EF4-FFF2-40B4-BE49-F238E27FC236}">
                <a16:creationId xmlns:a16="http://schemas.microsoft.com/office/drawing/2014/main" id="{A4A77F70-07A2-B09A-CC55-8DB7CCB44D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85882" y="7573817"/>
            <a:ext cx="1619828" cy="53109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622</Words>
  <Application>Microsoft Macintosh PowerPoint</Application>
  <PresentationFormat>Custom</PresentationFormat>
  <Paragraphs>71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DM Sans Semi Bold</vt:lpstr>
      <vt:lpstr>Inter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ANIRUDH NISHTALA - 122130010 - MITBLR</cp:lastModifiedBy>
  <cp:revision>2</cp:revision>
  <dcterms:created xsi:type="dcterms:W3CDTF">2025-08-31T15:01:43Z</dcterms:created>
  <dcterms:modified xsi:type="dcterms:W3CDTF">2025-08-31T15:05:22Z</dcterms:modified>
</cp:coreProperties>
</file>