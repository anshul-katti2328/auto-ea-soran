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Saira Medium" pitchFamily="2" charset="77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97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No.Ga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8545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Extending the work of team "Farzi Data Scientists"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61224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Toward a Modular, Real-Time, Energy-Efficient RAN Optimization Framework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59319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Duration: 4 Months</a:t>
            </a:r>
            <a:endParaRPr lang="en-US" sz="1750" dirty="0"/>
          </a:p>
        </p:txBody>
      </p:sp>
      <p:pic>
        <p:nvPicPr>
          <p:cNvPr id="7" name="Picture 6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252BCE3E-A068-BFAE-25AA-A1797EB6C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181"/>
            <a:ext cx="48923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Understanding Farzi's Project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93790" y="1264325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Aim: To predict the energy consumption of 5G base stations using real-world configuration and traffic data.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7384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5038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Collected hourly BS data (load, TX power, ES modes, etc.)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460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feature engineering: time lags, signal processing, spline features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3882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ANN models (FastAI and Keras)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8304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SHAP for post-hoc model explainability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3354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Output: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93790" y="62990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 CSV predictions of BS energy consumption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7412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Achieved high accuracy on ITU-Zindi leaderboard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71833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generalisation across base station configurations</a:t>
            </a:r>
            <a:endParaRPr lang="en-US" sz="1750" dirty="0"/>
          </a:p>
        </p:txBody>
      </p:sp>
      <p:pic>
        <p:nvPicPr>
          <p:cNvPr id="13" name="Picture 12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FC50942D-5C4E-348E-7A50-9C7C46D1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43560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Strengths of Farzi’s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1822490"/>
            <a:ext cx="6407944" cy="1532930"/>
          </a:xfrm>
          <a:prstGeom prst="roundRect">
            <a:avLst>
              <a:gd name="adj" fmla="val 9544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1792010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540" y="14823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14" y="1652468"/>
            <a:ext cx="272177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2389465"/>
            <a:ext cx="58933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Accurate ANN-based prediction of energy usage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428548" y="1822490"/>
            <a:ext cx="6408063" cy="1532930"/>
          </a:xfrm>
          <a:prstGeom prst="roundRect">
            <a:avLst>
              <a:gd name="adj" fmla="val 9544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28548" y="1792010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292298" y="14823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371" y="1652468"/>
            <a:ext cx="272177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5842" y="2389465"/>
            <a:ext cx="58934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Strong domain-informed feature engineering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793790" y="3922395"/>
            <a:ext cx="6407944" cy="1532930"/>
          </a:xfrm>
          <a:prstGeom prst="roundRect">
            <a:avLst>
              <a:gd name="adj" fmla="val 9544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3790" y="3891915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657540" y="358223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14" y="3752374"/>
            <a:ext cx="272177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084" y="4489371"/>
            <a:ext cx="58933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Differentiated analysis for existing vs. new BSs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7428548" y="3922395"/>
            <a:ext cx="6408063" cy="1532930"/>
          </a:xfrm>
          <a:prstGeom prst="roundRect">
            <a:avLst>
              <a:gd name="adj" fmla="val 9544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28548" y="3891915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292298" y="358223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371" y="3752374"/>
            <a:ext cx="272177" cy="3401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5842" y="4489371"/>
            <a:ext cx="58934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Effective use of SHAP to explain feature importance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793790" y="6022300"/>
            <a:ext cx="6407944" cy="1532930"/>
          </a:xfrm>
          <a:prstGeom prst="roundRect">
            <a:avLst>
              <a:gd name="adj" fmla="val 9544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93790" y="5991820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657540" y="56821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614" y="5852279"/>
            <a:ext cx="272177" cy="3401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084" y="6589276"/>
            <a:ext cx="4546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Generalisable to unseen BS setups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7428548" y="6022300"/>
            <a:ext cx="6408063" cy="1532930"/>
          </a:xfrm>
          <a:prstGeom prst="roundRect">
            <a:avLst>
              <a:gd name="adj" fmla="val 9544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428548" y="5991820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10292298" y="56821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685842" y="6589276"/>
            <a:ext cx="58934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Clean Kaggle-based reproducible implementation</a:t>
            </a:r>
            <a:endParaRPr lang="en-US" sz="2200" dirty="0"/>
          </a:p>
        </p:txBody>
      </p:sp>
      <p:pic>
        <p:nvPicPr>
          <p:cNvPr id="32" name="Picture 31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6FADC380-C35E-8105-4257-D62B963B53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869" y="372308"/>
            <a:ext cx="3007162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Gaps Identified in Farzi’s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3869" y="854631"/>
            <a:ext cx="13682663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identified the following gaps that limit real-world deployment: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869" y="1223486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4589" y="1248847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3924" y="1269921"/>
            <a:ext cx="234838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system-level orchestration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869" y="1798915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4589" y="1824276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3924" y="1845350"/>
            <a:ext cx="4436150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optimization layer for energy-efficient configurations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3869" y="2374344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4589" y="2399705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3924" y="2420779"/>
            <a:ext cx="31601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feedback loop for outcome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3869" y="2949773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4589" y="2975134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3924" y="2996208"/>
            <a:ext cx="3716298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actuation (i.e., BS config change application)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3869" y="3525203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4589" y="3550563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3924" y="3571637"/>
            <a:ext cx="3887033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decision-level explainability (only model-level)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869" y="4100632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4589" y="4125992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3924" y="4147066"/>
            <a:ext cx="276796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QoS vs. energy trade-off control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3869" y="4676061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4589" y="4701421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7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3924" y="4722495"/>
            <a:ext cx="2601873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simulation-in-the-loop testing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869" y="5251490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4589" y="5276850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8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13924" y="5297924"/>
            <a:ext cx="281320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coordination across multiple BSs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3869" y="5826919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4589" y="5852279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9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13924" y="5873353"/>
            <a:ext cx="3486983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policy-based decision-making framework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3869" y="6402348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4589" y="6427708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13924" y="6448782"/>
            <a:ext cx="329088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Not designed for rural/edge environments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3869" y="6977777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4589" y="7003137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11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13924" y="7024211"/>
            <a:ext cx="2454831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fallback or self-healing logic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3869" y="7553206"/>
            <a:ext cx="304681" cy="304681"/>
          </a:xfrm>
          <a:prstGeom prst="roundRect">
            <a:avLst>
              <a:gd name="adj" fmla="val 4000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4589" y="7578566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12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913924" y="7599640"/>
            <a:ext cx="2354104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operator-facing dashboard</a:t>
            </a:r>
            <a:endParaRPr lang="en-US" sz="1300" dirty="0"/>
          </a:p>
        </p:txBody>
      </p:sp>
      <p:pic>
        <p:nvPicPr>
          <p:cNvPr id="40" name="Picture 39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388D10A5-AC11-D0C3-7111-359E4346A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590431"/>
            <a:ext cx="4897993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Our Use Case – Auto EA-SORAN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750689" y="1140023"/>
            <a:ext cx="7642622" cy="107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Title: Autonomous Energy-Aware Self-Optimizing RAN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750689" y="2534007"/>
            <a:ext cx="7642622" cy="120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Goal: Extend Farzi's model into a real-time, modular, closed-loop orchestration system for BS energy optimization.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50689" y="4062293"/>
            <a:ext cx="3217664" cy="40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Features: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50689" y="4786193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Farzi's ANN prediction inside an orchestration loop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0689" y="5204460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optimizer to suggest best config (Tx power, BW, ES modes)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0689" y="5622727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NS-3 simulation before application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0689" y="6040993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configs via orchestrator agent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0689" y="6459260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Monitors outcomes with rollback fallback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0689" y="6877526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human-readable explanations for each action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50689" y="7295793"/>
            <a:ext cx="76426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operator input needed (autonomous, policy-driven)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29947"/>
            <a:ext cx="50332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Proposed System Architecture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93790" y="1360289"/>
            <a:ext cx="60549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Modular Multi-Agent Design: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857256" y="248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Monitor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297846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BS metrics in real-time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692" y="2882503"/>
            <a:ext cx="339328" cy="424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28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Prediction Agent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277415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enhanced ANN model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817" y="2914650"/>
            <a:ext cx="339328" cy="4242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3509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Optimizer Agent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4000381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selects best BS config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0970" y="4018359"/>
            <a:ext cx="339328" cy="4242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37790" y="4736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Orchestrator Agent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937790" y="5226725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simulates + applies config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1165" y="5362575"/>
            <a:ext cx="339328" cy="4242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937790" y="5962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Feedback Agent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9937790" y="645306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validates outcomes + triggers rollback</a:t>
            </a:r>
            <a:endParaRPr lang="en-US" sz="17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8388" y="5935028"/>
            <a:ext cx="339328" cy="42422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857256" y="5758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Explainability Layer</a:t>
            </a:r>
            <a:endParaRPr lang="en-US" sz="2200" dirty="0"/>
          </a:p>
        </p:txBody>
      </p:sp>
      <p:sp>
        <p:nvSpPr>
          <p:cNvPr id="25" name="Text 13"/>
          <p:cNvSpPr/>
          <p:nvPr/>
        </p:nvSpPr>
        <p:spPr>
          <a:xfrm>
            <a:off x="793790" y="624863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+ reasoning trace</a:t>
            </a:r>
            <a:endParaRPr lang="en-US" sz="17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73472" y="5304592"/>
            <a:ext cx="339328" cy="42422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1857256" y="41230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Static Policy Handler</a:t>
            </a:r>
            <a:endParaRPr lang="en-US" sz="2200" dirty="0"/>
          </a:p>
        </p:txBody>
      </p:sp>
      <p:sp>
        <p:nvSpPr>
          <p:cNvPr id="29" name="Text 15"/>
          <p:cNvSpPr/>
          <p:nvPr/>
        </p:nvSpPr>
        <p:spPr>
          <a:xfrm>
            <a:off x="793790" y="4613434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YAML/config-based goals</a:t>
            </a:r>
            <a:endParaRPr lang="en-US" sz="175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2653" y="2267426"/>
            <a:ext cx="4564975" cy="456497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6414" y="3946088"/>
            <a:ext cx="339328" cy="42422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93790" y="70875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using ZeroMQ. Lightweight and edge-deployable.</a:t>
            </a:r>
            <a:endParaRPr lang="en-US" sz="1750" dirty="0"/>
          </a:p>
        </p:txBody>
      </p:sp>
      <p:pic>
        <p:nvPicPr>
          <p:cNvPr id="33" name="Picture 32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5DB509CC-293E-35D5-0878-A6E85C65480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771" y="358140"/>
            <a:ext cx="2141934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Addressing the Gaps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455771" y="821888"/>
            <a:ext cx="13718858" cy="7073265"/>
          </a:xfrm>
          <a:prstGeom prst="roundRect">
            <a:avLst>
              <a:gd name="adj" fmla="val 165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3391" y="829508"/>
            <a:ext cx="13703618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3646" y="915233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u="sng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2951" y="915233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system-level orchestration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Implement a modular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orchestration loop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(Monitor → Predict → Optimize → Orchestrate → Feedback).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391" y="1417677"/>
            <a:ext cx="13703618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46" y="1503402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2951" y="1503402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optimization layer for energy-efficient configurations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Develop a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multi-objective Optimizer Agent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recommend BS settings balancing energy savings and performance.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391" y="2005846"/>
            <a:ext cx="13703618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3646" y="2091571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2951" y="2091571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feedback loop for outcome validation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Introduce a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Agent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monitors KPIs and validates the impact of each configuration decision.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391" y="2594015"/>
            <a:ext cx="13703618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3646" y="2679740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2951" y="2679740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actuation (i.e., BS config change application)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Use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NS-3/Simu5G simulations or mock API endpoints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safely apply the chosen configuration to the base station in a testbed.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391" y="3182183"/>
            <a:ext cx="13703618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3646" y="3267908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2951" y="3267908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decision-level explainability (only model-level)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Add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+ rule-based action explainability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justify every configuration change, making decisions human-interpretable.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391" y="3770352"/>
            <a:ext cx="13703618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3646" y="3856077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2951" y="3856077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QoS vs. energy trade-off control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Embed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QoS constraints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the optimization logic to prevent degradation of network quality while saving energy.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3391" y="4358521"/>
            <a:ext cx="13703618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3646" y="4444246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2951" y="4444246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simulation-in-the-loop testing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Integrate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NS-3 or Simu5G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simulate BS configuration changes before live application to validate safety and effectiveness.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391" y="4946690"/>
            <a:ext cx="13703618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3646" y="5032415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2951" y="5032415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coordination across multiple BSs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Extend architecture for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multi-BS awareness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allowing dynamic offloading and coordination among base stations.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391" y="5534858"/>
            <a:ext cx="13703618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3646" y="5620583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2951" y="5620583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policy-based decision-making framework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Implement a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policy handler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YAML or JSON config files to encode energy-saving preferences and operating rules.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3391" y="6123027"/>
            <a:ext cx="13703618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3646" y="6208752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2951" y="6208752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designed for rural/edge environments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Use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agents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(Python + ZeroMQ) that can run on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hardware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minimal computational requirements.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3391" y="6711196"/>
            <a:ext cx="13703618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3646" y="6796921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52951" y="6796921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fallback or self-healing logic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Build in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rollback and recovery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capabilities triggered by the Feedback Agent if a new config leads to performance degradation.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3391" y="7299365"/>
            <a:ext cx="13703618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3646" y="7385090"/>
            <a:ext cx="179141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52951" y="7385090"/>
            <a:ext cx="11383923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operator-facing dashboard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Solution:- Develop a simple, visual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using </a:t>
            </a:r>
            <a:r>
              <a:rPr lang="en-US" sz="1000" b="1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/Grafana or Flask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show BS state, energy saved, decisions made, and justifications.</a:t>
            </a:r>
            <a:endParaRPr lang="en-US" sz="1000" dirty="0"/>
          </a:p>
        </p:txBody>
      </p:sp>
      <p:pic>
        <p:nvPicPr>
          <p:cNvPr id="40" name="Picture 39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DCE9CC92-14A2-6A56-3316-83E35074D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7206" y="7674906"/>
            <a:ext cx="1893194" cy="5546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8153"/>
            <a:ext cx="6045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Makes Auto EA-SORAN Unique?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226112"/>
            <a:ext cx="6407944" cy="1208008"/>
          </a:xfrm>
          <a:prstGeom prst="roundRect">
            <a:avLst>
              <a:gd name="adj" fmla="val 1689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3464" y="2475786"/>
            <a:ext cx="5908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Transforms prediction into autonomous energy optimisation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28548" y="2226112"/>
            <a:ext cx="6408063" cy="1208008"/>
          </a:xfrm>
          <a:prstGeom prst="roundRect">
            <a:avLst>
              <a:gd name="adj" fmla="val 1689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78222" y="2475786"/>
            <a:ext cx="59087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Built-in action-level explainability (beyond model SHAP)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3660934"/>
            <a:ext cx="6407944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3464" y="3910608"/>
            <a:ext cx="4679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First-of-its-kind system integrating: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3464" y="4401026"/>
            <a:ext cx="59085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+ Optimisation + Simulation + Action + Feedback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660934"/>
            <a:ext cx="6408063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78222" y="3910608"/>
            <a:ext cx="59087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Designed for edge and rural telecom infrastructure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5603319"/>
            <a:ext cx="6407944" cy="1208008"/>
          </a:xfrm>
          <a:prstGeom prst="roundRect">
            <a:avLst>
              <a:gd name="adj" fmla="val 1689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3464" y="5852993"/>
            <a:ext cx="5908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Fully autonomous (no intent engine or operator needed)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28548" y="5603319"/>
            <a:ext cx="6408063" cy="1208008"/>
          </a:xfrm>
          <a:prstGeom prst="roundRect">
            <a:avLst>
              <a:gd name="adj" fmla="val 1689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78222" y="5852993"/>
            <a:ext cx="59087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Ready for ITU FG-AINN WG3/WG4 alignment and PoC showcase</a:t>
            </a:r>
            <a:endParaRPr lang="en-US" sz="2200" dirty="0"/>
          </a:p>
        </p:txBody>
      </p:sp>
      <p:pic>
        <p:nvPicPr>
          <p:cNvPr id="16" name="Picture 15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BDFD9C08-B5C3-3E54-F2B7-BF000F25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0" y="7632521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0048"/>
            <a:ext cx="3641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Expected Outcomes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48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the 4-month phase, we aim to deliver: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66060"/>
            <a:ext cx="6407944" cy="1223248"/>
          </a:xfrm>
          <a:prstGeom prst="roundRect">
            <a:avLst>
              <a:gd name="adj" fmla="val 1196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2766060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3023354"/>
            <a:ext cx="50230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Working prototype of Auto EA-SORAN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28548" y="2766060"/>
            <a:ext cx="6408063" cy="1223248"/>
          </a:xfrm>
          <a:prstGeom prst="roundRect">
            <a:avLst>
              <a:gd name="adj" fmla="val 1196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766060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3023354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Simulation-based evidence of BS energy savings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4216122"/>
            <a:ext cx="6407944" cy="1223248"/>
          </a:xfrm>
          <a:prstGeom prst="roundRect">
            <a:avLst>
              <a:gd name="adj" fmla="val 1196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3310" y="4216122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2524" y="4473416"/>
            <a:ext cx="58019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Config change orchestration based on policies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28548" y="4216122"/>
            <a:ext cx="6408063" cy="1223248"/>
          </a:xfrm>
          <a:prstGeom prst="roundRect">
            <a:avLst>
              <a:gd name="adj" fmla="val 1196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98067" y="4216122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7282" y="4473416"/>
            <a:ext cx="5640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showing energy-QoS trade-offs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3790" y="5666184"/>
            <a:ext cx="6407944" cy="1223248"/>
          </a:xfrm>
          <a:prstGeom prst="roundRect">
            <a:avLst>
              <a:gd name="adj" fmla="val 1196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3310" y="5666184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2524" y="5923478"/>
            <a:ext cx="58019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SHAP + reasoning explanations for each config decision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28548" y="5666184"/>
            <a:ext cx="6408063" cy="1223248"/>
          </a:xfrm>
          <a:prstGeom prst="roundRect">
            <a:avLst>
              <a:gd name="adj" fmla="val 1196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98067" y="5666184"/>
            <a:ext cx="121920" cy="1223248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7282" y="5923478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Documented PoC system for further R&amp;D and ITU submission</a:t>
            </a:r>
            <a:endParaRPr lang="en-US" sz="2200" dirty="0"/>
          </a:p>
        </p:txBody>
      </p:sp>
      <p:pic>
        <p:nvPicPr>
          <p:cNvPr id="25" name="Picture 2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F28364BE-5210-09A8-4C7E-BD34C43D1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4329" y="653406"/>
            <a:ext cx="4574797" cy="37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Timeline of the project</a:t>
            </a:r>
            <a:endParaRPr lang="en-US" sz="35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A1B9C02-86E3-95A5-ABCB-09255336E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6" y="1967068"/>
            <a:ext cx="14030008" cy="4100255"/>
          </a:xfrm>
          <a:prstGeom prst="rect">
            <a:avLst/>
          </a:prstGeom>
        </p:spPr>
      </p:pic>
      <p:pic>
        <p:nvPicPr>
          <p:cNvPr id="6" name="Picture 5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B4AAAD6E-CDE6-2306-19B5-9EB19B46C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6500" y="7645400"/>
            <a:ext cx="1993900" cy="58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848</Words>
  <Application>Microsoft Macintosh PowerPoint</Application>
  <PresentationFormat>Custom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Saira Medium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ANIRUDH NISHTALA - 122130010 - MITBLR</cp:lastModifiedBy>
  <cp:revision>2</cp:revision>
  <dcterms:created xsi:type="dcterms:W3CDTF">2025-08-01T14:32:02Z</dcterms:created>
  <dcterms:modified xsi:type="dcterms:W3CDTF">2025-08-01T14:43:35Z</dcterms:modified>
</cp:coreProperties>
</file>